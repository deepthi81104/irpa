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24"/>
  </p:notesMasterIdLst>
  <p:sldIdLst>
    <p:sldId id="256" r:id="rId2"/>
    <p:sldId id="257" r:id="rId3"/>
    <p:sldId id="258" r:id="rId4"/>
    <p:sldId id="259" r:id="rId5"/>
    <p:sldId id="260" r:id="rId6"/>
    <p:sldId id="276" r:id="rId7"/>
    <p:sldId id="261" r:id="rId8"/>
    <p:sldId id="262" r:id="rId9"/>
    <p:sldId id="277" r:id="rId10"/>
    <p:sldId id="263" r:id="rId11"/>
    <p:sldId id="264" r:id="rId12"/>
    <p:sldId id="278" r:id="rId13"/>
    <p:sldId id="265" r:id="rId14"/>
    <p:sldId id="266" r:id="rId15"/>
    <p:sldId id="267" r:id="rId16"/>
    <p:sldId id="279" r:id="rId17"/>
    <p:sldId id="269" r:id="rId18"/>
    <p:sldId id="270" r:id="rId19"/>
    <p:sldId id="272" r:id="rId20"/>
    <p:sldId id="273" r:id="rId21"/>
    <p:sldId id="274" r:id="rId22"/>
    <p:sldId id="275" r:id="rId23"/>
  </p:sldIdLst>
  <p:sldSz cx="9144000" cy="6858000" type="screen4x3"/>
  <p:notesSz cx="6858000" cy="9144000"/>
  <p:embeddedFontLst>
    <p:embeddedFont>
      <p:font typeface="Open Sans ExtraBold" panose="020B0906030804020204" pitchFamily="34" charset="0"/>
      <p:bold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1498"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C7E6AC09-3F50-7ACB-F819-53422D33FB37}"/>
            </a:ext>
          </a:extLst>
        </p:cNvPr>
        <p:cNvGrpSpPr/>
        <p:nvPr/>
      </p:nvGrpSpPr>
      <p:grpSpPr>
        <a:xfrm>
          <a:off x="0" y="0"/>
          <a:ext cx="0" cy="0"/>
          <a:chOff x="0" y="0"/>
          <a:chExt cx="0" cy="0"/>
        </a:xfrm>
      </p:grpSpPr>
      <p:sp>
        <p:nvSpPr>
          <p:cNvPr id="122" name="Google Shape;122;p5:notes">
            <a:extLst>
              <a:ext uri="{FF2B5EF4-FFF2-40B4-BE49-F238E27FC236}">
                <a16:creationId xmlns:a16="http://schemas.microsoft.com/office/drawing/2014/main" id="{26777F8A-3C05-6DD3-698A-2CFF0E610FB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5:notes">
            <a:extLst>
              <a:ext uri="{FF2B5EF4-FFF2-40B4-BE49-F238E27FC236}">
                <a16:creationId xmlns:a16="http://schemas.microsoft.com/office/drawing/2014/main" id="{35283DF4-04EE-932E-25FB-1899842DEB4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5:notes">
            <a:extLst>
              <a:ext uri="{FF2B5EF4-FFF2-40B4-BE49-F238E27FC236}">
                <a16:creationId xmlns:a16="http://schemas.microsoft.com/office/drawing/2014/main" id="{07D26482-060E-6551-118C-199E9DF4231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2940670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3A759226-8D20-0306-AA7F-29F4174C1914}"/>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EBA1467A-FB8B-3C70-BBD3-D126BFF41ED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7:notes">
            <a:extLst>
              <a:ext uri="{FF2B5EF4-FFF2-40B4-BE49-F238E27FC236}">
                <a16:creationId xmlns:a16="http://schemas.microsoft.com/office/drawing/2014/main" id="{FF88EB35-A770-DE7B-895A-DBA96F2804B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7:notes">
            <a:extLst>
              <a:ext uri="{FF2B5EF4-FFF2-40B4-BE49-F238E27FC236}">
                <a16:creationId xmlns:a16="http://schemas.microsoft.com/office/drawing/2014/main" id="{1110B8DA-61A3-B8D3-8A26-E510A87762D7}"/>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4604816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E7648346-C429-174F-4628-505A04D52224}"/>
            </a:ext>
          </a:extLst>
        </p:cNvPr>
        <p:cNvGrpSpPr/>
        <p:nvPr/>
      </p:nvGrpSpPr>
      <p:grpSpPr>
        <a:xfrm>
          <a:off x="0" y="0"/>
          <a:ext cx="0" cy="0"/>
          <a:chOff x="0" y="0"/>
          <a:chExt cx="0" cy="0"/>
        </a:xfrm>
      </p:grpSpPr>
      <p:sp>
        <p:nvSpPr>
          <p:cNvPr id="150" name="Google Shape;150;p9:notes">
            <a:extLst>
              <a:ext uri="{FF2B5EF4-FFF2-40B4-BE49-F238E27FC236}">
                <a16:creationId xmlns:a16="http://schemas.microsoft.com/office/drawing/2014/main" id="{22EC7AF5-2251-CC4B-5764-2E4FE6C21E1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9:notes">
            <a:extLst>
              <a:ext uri="{FF2B5EF4-FFF2-40B4-BE49-F238E27FC236}">
                <a16:creationId xmlns:a16="http://schemas.microsoft.com/office/drawing/2014/main" id="{BAD534C9-AD30-51C5-85A0-D26C39C11CD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9:notes">
            <a:extLst>
              <a:ext uri="{FF2B5EF4-FFF2-40B4-BE49-F238E27FC236}">
                <a16:creationId xmlns:a16="http://schemas.microsoft.com/office/drawing/2014/main" id="{0CB7663C-075C-9753-CE8E-9102BF46FA97}"/>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4069450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383D5210-0182-CB44-4FDD-4FD7134613F4}"/>
            </a:ext>
          </a:extLst>
        </p:cNvPr>
        <p:cNvGrpSpPr/>
        <p:nvPr/>
      </p:nvGrpSpPr>
      <p:grpSpPr>
        <a:xfrm>
          <a:off x="0" y="0"/>
          <a:ext cx="0" cy="0"/>
          <a:chOff x="0" y="0"/>
          <a:chExt cx="0" cy="0"/>
        </a:xfrm>
      </p:grpSpPr>
      <p:sp>
        <p:nvSpPr>
          <p:cNvPr id="171" name="Google Shape;171;p12:notes">
            <a:extLst>
              <a:ext uri="{FF2B5EF4-FFF2-40B4-BE49-F238E27FC236}">
                <a16:creationId xmlns:a16="http://schemas.microsoft.com/office/drawing/2014/main" id="{188B33B5-01D0-158C-0ECF-DD25CC023F2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12:notes">
            <a:extLst>
              <a:ext uri="{FF2B5EF4-FFF2-40B4-BE49-F238E27FC236}">
                <a16:creationId xmlns:a16="http://schemas.microsoft.com/office/drawing/2014/main" id="{A50EE739-CC0C-9293-B015-47A9AAEADE5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2:notes">
            <a:extLst>
              <a:ext uri="{FF2B5EF4-FFF2-40B4-BE49-F238E27FC236}">
                <a16:creationId xmlns:a16="http://schemas.microsoft.com/office/drawing/2014/main" id="{69808206-4F9E-C180-DFD4-6D8EF3520CF9}"/>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405555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0" name="Google Shape;220;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lvl1pPr marL="457200" lvl="0" indent="-3810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marL="914400" lvl="1" indent="-3556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marL="1371600" lvl="2" indent="-3429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marL="1828800" lvl="3"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marL="2286000" lvl="4"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 name="Google Shape;22;p3"/>
          <p:cNvSpPr/>
          <p:nvPr/>
        </p:nvSpPr>
        <p:spPr>
          <a:xfrm>
            <a:off x="0" y="647700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a:ea typeface="Calibri"/>
                <a:cs typeface="Calibri"/>
                <a:sym typeface="Calibri"/>
              </a:rPr>
              <a:t>Department of Computer Science and Engineering</a:t>
            </a:r>
            <a:endParaRPr sz="1600">
              <a:solidFill>
                <a:srgbClr val="FFFFFF"/>
              </a:solidFill>
              <a:latin typeface="Calibri"/>
              <a:ea typeface="Calibri"/>
              <a:cs typeface="Calibri"/>
              <a:sym typeface="Calibri"/>
            </a:endParaRPr>
          </a:p>
        </p:txBody>
      </p:sp>
      <p:cxnSp>
        <p:nvCxnSpPr>
          <p:cNvPr id="23" name="Google Shape;23;p3"/>
          <p:cNvCxnSpPr/>
          <p:nvPr/>
        </p:nvCxnSpPr>
        <p:spPr>
          <a:xfrm>
            <a:off x="190500" y="914400"/>
            <a:ext cx="8763000" cy="0"/>
          </a:xfrm>
          <a:prstGeom prst="straightConnector1">
            <a:avLst/>
          </a:prstGeom>
          <a:noFill/>
          <a:ln w="9525" cap="flat" cmpd="sng">
            <a:solidFill>
              <a:srgbClr val="D8D8D8"/>
            </a:solidFill>
            <a:prstDash val="solid"/>
            <a:round/>
            <a:headEnd type="none" w="sm" len="sm"/>
            <a:tailEnd type="none" w="sm" len="sm"/>
          </a:ln>
        </p:spPr>
      </p:cxnSp>
      <p:sp>
        <p:nvSpPr>
          <p:cNvPr id="24" name="Google Shape;24;p3"/>
          <p:cNvSpPr/>
          <p:nvPr/>
        </p:nvSpPr>
        <p:spPr>
          <a:xfrm>
            <a:off x="4572000" y="647749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a:ea typeface="Calibri"/>
                <a:cs typeface="Calibri"/>
                <a:sym typeface="Calibri"/>
              </a:rPr>
              <a:t>Rajalakshmi Engineering College 		</a:t>
            </a:r>
            <a:fld id="{00000000-1234-1234-1234-123412341234}" type="slidenum">
              <a:rPr lang="en-US" sz="1600">
                <a:solidFill>
                  <a:srgbClr val="FFFFFF"/>
                </a:solidFill>
                <a:latin typeface="Calibri"/>
                <a:ea typeface="Calibri"/>
                <a:cs typeface="Calibri"/>
                <a:sym typeface="Calibri"/>
              </a:rPr>
              <a:t>‹#›</a:t>
            </a:fld>
            <a:endParaRPr sz="1600">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Open Sans ExtraBold"/>
              <a:buNone/>
              <a:defRPr>
                <a:latin typeface="Open Sans ExtraBold"/>
                <a:ea typeface="Open Sans ExtraBold"/>
                <a:cs typeface="Open Sans ExtraBold"/>
                <a:sym typeface="Open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8" name="Google Shape;28;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ieeexplore.ieee.org/document/10393777"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hyperlink" Target="https://ar5iv.org/abs/2305.13469" TargetMode="External"/><Relationship Id="rId4" Type="http://schemas.openxmlformats.org/officeDocument/2006/relationships/hyperlink" Target="https://ieeexplore.ieee.org/document/9596149"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3"/>
          <p:cNvPicPr preferRelativeResize="0"/>
          <p:nvPr/>
        </p:nvPicPr>
        <p:blipFill rotWithShape="1">
          <a:blip r:embed="rId3">
            <a:alphaModFix/>
          </a:blip>
          <a:srcRect l="-776" t="63278" r="776" b="-30897"/>
          <a:stretch/>
        </p:blipFill>
        <p:spPr>
          <a:xfrm>
            <a:off x="-72010" y="-2532"/>
            <a:ext cx="9216010" cy="3231811"/>
          </a:xfrm>
          <a:prstGeom prst="rect">
            <a:avLst/>
          </a:prstGeom>
          <a:noFill/>
          <a:ln>
            <a:noFill/>
          </a:ln>
        </p:spPr>
      </p:pic>
      <p:grpSp>
        <p:nvGrpSpPr>
          <p:cNvPr id="89" name="Google Shape;89;p13"/>
          <p:cNvGrpSpPr/>
          <p:nvPr/>
        </p:nvGrpSpPr>
        <p:grpSpPr>
          <a:xfrm>
            <a:off x="0" y="1613373"/>
            <a:ext cx="9158748" cy="4698743"/>
            <a:chOff x="-14748" y="986564"/>
            <a:chExt cx="9158748" cy="4698743"/>
          </a:xfrm>
        </p:grpSpPr>
        <p:sp>
          <p:nvSpPr>
            <p:cNvPr id="90" name="Google Shape;90;p13"/>
            <p:cNvSpPr txBox="1"/>
            <p:nvPr/>
          </p:nvSpPr>
          <p:spPr>
            <a:xfrm>
              <a:off x="187426" y="4669685"/>
              <a:ext cx="5237310" cy="10156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dirty="0">
                  <a:solidFill>
                    <a:schemeClr val="dk1"/>
                  </a:solidFill>
                  <a:latin typeface="Calibri"/>
                  <a:ea typeface="Calibri"/>
                  <a:cs typeface="Calibri"/>
                  <a:sym typeface="Calibri"/>
                </a:rPr>
                <a:t>Your Register No</a:t>
              </a:r>
              <a:r>
                <a:rPr lang="en-US" sz="2000" b="1" dirty="0">
                  <a:solidFill>
                    <a:schemeClr val="dk1"/>
                  </a:solidFill>
                  <a:latin typeface="Calibri"/>
                  <a:ea typeface="Calibri"/>
                  <a:cs typeface="Calibri"/>
                  <a:sym typeface="Calibri"/>
                </a:rPr>
                <a:t>:</a:t>
              </a:r>
              <a:r>
                <a:rPr lang="en-US" sz="2000" b="1" i="0" u="none" strike="noStrike" cap="none" dirty="0">
                  <a:solidFill>
                    <a:schemeClr val="dk1"/>
                  </a:solidFill>
                  <a:latin typeface="Calibri"/>
                  <a:ea typeface="Calibri"/>
                  <a:cs typeface="Calibri"/>
                  <a:sym typeface="Calibri"/>
                </a:rPr>
                <a:t> 2207011059</a:t>
              </a:r>
              <a:endParaRPr dirty="0"/>
            </a:p>
            <a:p>
              <a:pPr marL="0" marR="0" lvl="0" indent="0" algn="l" rtl="0">
                <a:spcBef>
                  <a:spcPts val="0"/>
                </a:spcBef>
                <a:spcAft>
                  <a:spcPts val="0"/>
                </a:spcAft>
                <a:buNone/>
              </a:pPr>
              <a:r>
                <a:rPr lang="en-US" sz="2000" b="1" dirty="0" err="1">
                  <a:solidFill>
                    <a:schemeClr val="dk1"/>
                  </a:solidFill>
                  <a:latin typeface="Calibri"/>
                  <a:ea typeface="Calibri"/>
                  <a:cs typeface="Calibri"/>
                  <a:sym typeface="Calibri"/>
                </a:rPr>
                <a:t>Name:Deepthi</a:t>
              </a:r>
              <a:r>
                <a:rPr lang="en-US" sz="2000" b="1" dirty="0">
                  <a:solidFill>
                    <a:schemeClr val="dk1"/>
                  </a:solidFill>
                  <a:latin typeface="Calibri"/>
                  <a:ea typeface="Calibri"/>
                  <a:cs typeface="Calibri"/>
                  <a:sym typeface="Calibri"/>
                </a:rPr>
                <a:t> P</a:t>
              </a:r>
              <a:endParaRPr dirty="0"/>
            </a:p>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Designation and </a:t>
              </a:r>
              <a:r>
                <a:rPr lang="en-US" sz="2000" b="1" dirty="0" err="1">
                  <a:solidFill>
                    <a:schemeClr val="dk1"/>
                  </a:solidFill>
                  <a:latin typeface="Calibri"/>
                  <a:ea typeface="Calibri"/>
                  <a:cs typeface="Calibri"/>
                  <a:sym typeface="Calibri"/>
                </a:rPr>
                <a:t>Department:CSE</a:t>
              </a:r>
              <a:r>
                <a:rPr lang="en-US" sz="2000" b="1" dirty="0">
                  <a:solidFill>
                    <a:schemeClr val="dk1"/>
                  </a:solidFill>
                  <a:latin typeface="Calibri"/>
                  <a:ea typeface="Calibri"/>
                  <a:cs typeface="Calibri"/>
                  <a:sym typeface="Calibri"/>
                </a:rPr>
                <a:t> A</a:t>
              </a:r>
              <a:endParaRPr sz="2000" b="1" dirty="0">
                <a:solidFill>
                  <a:schemeClr val="dk1"/>
                </a:solidFill>
                <a:latin typeface="Calibri"/>
                <a:ea typeface="Calibri"/>
                <a:cs typeface="Calibri"/>
                <a:sym typeface="Calibri"/>
              </a:endParaRPr>
            </a:p>
          </p:txBody>
        </p:sp>
        <p:grpSp>
          <p:nvGrpSpPr>
            <p:cNvPr id="91" name="Google Shape;91;p13"/>
            <p:cNvGrpSpPr/>
            <p:nvPr/>
          </p:nvGrpSpPr>
          <p:grpSpPr>
            <a:xfrm>
              <a:off x="-14748" y="986564"/>
              <a:ext cx="9158748" cy="3699622"/>
              <a:chOff x="-14748" y="986564"/>
              <a:chExt cx="9158748" cy="3699622"/>
            </a:xfrm>
          </p:grpSpPr>
          <p:sp>
            <p:nvSpPr>
              <p:cNvPr id="92" name="Google Shape;92;p13"/>
              <p:cNvSpPr/>
              <p:nvPr/>
            </p:nvSpPr>
            <p:spPr>
              <a:xfrm>
                <a:off x="5003203" y="1761199"/>
                <a:ext cx="4140797" cy="2622445"/>
              </a:xfrm>
              <a:custGeom>
                <a:avLst/>
                <a:gdLst/>
                <a:ahLst/>
                <a:cxnLst/>
                <a:rect l="l" t="t" r="r" b="b"/>
                <a:pathLst>
                  <a:path w="4140797" h="2622445" extrusionOk="0">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 name="Google Shape;93;p13"/>
              <p:cNvSpPr/>
              <p:nvPr/>
            </p:nvSpPr>
            <p:spPr>
              <a:xfrm>
                <a:off x="0" y="1529371"/>
                <a:ext cx="5743977" cy="3086100"/>
              </a:xfrm>
              <a:prstGeom prst="homePlate">
                <a:avLst>
                  <a:gd name="adj" fmla="val 50000"/>
                </a:avLst>
              </a:prstGeom>
              <a:solidFill>
                <a:srgbClr val="59595B"/>
              </a:solidFill>
              <a:ln w="25400" cap="flat" cmpd="sng">
                <a:solidFill>
                  <a:srgbClr val="59595B"/>
                </a:solidFill>
                <a:prstDash val="solid"/>
                <a:round/>
                <a:headEnd type="none" w="sm" len="sm"/>
                <a:tailEnd type="none" w="sm" len="sm"/>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94" name="Google Shape;94;p13"/>
              <p:cNvGrpSpPr/>
              <p:nvPr/>
            </p:nvGrpSpPr>
            <p:grpSpPr>
              <a:xfrm>
                <a:off x="-14748" y="986564"/>
                <a:ext cx="4014973" cy="1075928"/>
                <a:chOff x="-19391" y="1011603"/>
                <a:chExt cx="5278947" cy="1075928"/>
              </a:xfrm>
            </p:grpSpPr>
            <p:sp>
              <p:nvSpPr>
                <p:cNvPr id="95" name="Google Shape;95;p13"/>
                <p:cNvSpPr/>
                <p:nvPr/>
              </p:nvSpPr>
              <p:spPr>
                <a:xfrm>
                  <a:off x="-19391" y="1011603"/>
                  <a:ext cx="5278947" cy="1075928"/>
                </a:xfrm>
                <a:prstGeom prst="homePlate">
                  <a:avLst>
                    <a:gd name="adj" fmla="val 50000"/>
                  </a:avLst>
                </a:prstGeom>
                <a:solidFill>
                  <a:srgbClr val="00AAAD"/>
                </a:solidFill>
                <a:ln>
                  <a:noFill/>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 name="Google Shape;96;p13"/>
                <p:cNvSpPr txBox="1"/>
                <p:nvPr/>
              </p:nvSpPr>
              <p:spPr>
                <a:xfrm>
                  <a:off x="237041" y="1195624"/>
                  <a:ext cx="4181886" cy="707886"/>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000" b="1">
                      <a:solidFill>
                        <a:schemeClr val="lt1"/>
                      </a:solidFill>
                      <a:latin typeface="Calibri"/>
                      <a:ea typeface="Calibri"/>
                      <a:cs typeface="Calibri"/>
                      <a:sym typeface="Calibri"/>
                    </a:rPr>
                    <a:t>Introduction to </a:t>
                  </a:r>
                  <a:endParaRPr/>
                </a:p>
                <a:p>
                  <a:pPr marL="0" marR="0" lvl="0" indent="0" algn="ctr" rtl="0">
                    <a:spcBef>
                      <a:spcPts val="0"/>
                    </a:spcBef>
                    <a:spcAft>
                      <a:spcPts val="0"/>
                    </a:spcAft>
                    <a:buNone/>
                  </a:pPr>
                  <a:r>
                    <a:rPr lang="en-US" sz="2000" b="1">
                      <a:solidFill>
                        <a:schemeClr val="lt1"/>
                      </a:solidFill>
                      <a:latin typeface="Calibri"/>
                      <a:ea typeface="Calibri"/>
                      <a:cs typeface="Calibri"/>
                      <a:sym typeface="Calibri"/>
                    </a:rPr>
                    <a:t>Robotic Process Automation </a:t>
                  </a:r>
                  <a:endParaRPr sz="2000" b="1">
                    <a:solidFill>
                      <a:schemeClr val="lt1"/>
                    </a:solidFill>
                    <a:latin typeface="Calibri"/>
                    <a:ea typeface="Calibri"/>
                    <a:cs typeface="Calibri"/>
                    <a:sym typeface="Calibri"/>
                  </a:endParaRPr>
                </a:p>
              </p:txBody>
            </p:sp>
          </p:grpSp>
          <p:sp>
            <p:nvSpPr>
              <p:cNvPr id="97" name="Google Shape;97;p13"/>
              <p:cNvSpPr txBox="1"/>
              <p:nvPr/>
            </p:nvSpPr>
            <p:spPr>
              <a:xfrm>
                <a:off x="177782" y="2100903"/>
                <a:ext cx="4188156" cy="258528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dirty="0">
                    <a:solidFill>
                      <a:schemeClr val="lt1"/>
                    </a:solidFill>
                    <a:latin typeface="Calibri"/>
                    <a:ea typeface="Calibri"/>
                    <a:cs typeface="Calibri"/>
                    <a:sym typeface="Calibri"/>
                  </a:rPr>
                  <a:t>The </a:t>
                </a:r>
                <a:r>
                  <a:rPr lang="en-US" sz="5400" b="1" dirty="0" err="1">
                    <a:solidFill>
                      <a:schemeClr val="lt1"/>
                    </a:solidFill>
                    <a:latin typeface="Calibri"/>
                    <a:ea typeface="Calibri"/>
                    <a:cs typeface="Calibri"/>
                    <a:sym typeface="Calibri"/>
                  </a:rPr>
                  <a:t>MailMinder</a:t>
                </a:r>
                <a:r>
                  <a:rPr lang="en-US" sz="5400" b="1" dirty="0">
                    <a:solidFill>
                      <a:schemeClr val="lt1"/>
                    </a:solidFill>
                    <a:latin typeface="Calibri"/>
                    <a:ea typeface="Calibri"/>
                    <a:cs typeface="Calibri"/>
                    <a:sym typeface="Calibri"/>
                  </a:rPr>
                  <a:t> Bot</a:t>
                </a:r>
                <a:endParaRPr lang="en-US" dirty="0"/>
              </a:p>
            </p:txBody>
          </p:sp>
          <p:sp>
            <p:nvSpPr>
              <p:cNvPr id="98" name="Google Shape;98;p13"/>
              <p:cNvSpPr/>
              <p:nvPr/>
            </p:nvSpPr>
            <p:spPr>
              <a:xfrm>
                <a:off x="4652237" y="1529372"/>
                <a:ext cx="1672363" cy="3086099"/>
              </a:xfrm>
              <a:custGeom>
                <a:avLst/>
                <a:gdLst/>
                <a:ahLst/>
                <a:cxnLst/>
                <a:rect l="l" t="t" r="r" b="b"/>
                <a:pathLst>
                  <a:path w="1672363" h="3086099" extrusionOk="0">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pic>
        <p:nvPicPr>
          <p:cNvPr id="99" name="Google Shape;99;p13"/>
          <p:cNvPicPr preferRelativeResize="0"/>
          <p:nvPr/>
        </p:nvPicPr>
        <p:blipFill rotWithShape="1">
          <a:blip r:embed="rId4">
            <a:alphaModFix/>
          </a:blip>
          <a:srcRect/>
          <a:stretch/>
        </p:blipFill>
        <p:spPr>
          <a:xfrm>
            <a:off x="7128284" y="4441459"/>
            <a:ext cx="1813542" cy="15415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Abstract</a:t>
            </a:r>
            <a:endParaRPr>
              <a:latin typeface="Calibri"/>
              <a:ea typeface="Calibri"/>
              <a:cs typeface="Calibri"/>
              <a:sym typeface="Calibri"/>
            </a:endParaRPr>
          </a:p>
        </p:txBody>
      </p:sp>
      <p:sp>
        <p:nvSpPr>
          <p:cNvPr id="106" name="Google Shape;106;p14"/>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indent="-342900" algn="just">
              <a:spcBef>
                <a:spcPts val="0"/>
              </a:spcBef>
            </a:pPr>
            <a:r>
              <a:rPr lang="en-US" sz="2800" dirty="0"/>
              <a:t>The </a:t>
            </a:r>
            <a:r>
              <a:rPr lang="en-US" sz="2800" dirty="0" err="1"/>
              <a:t>MailMinder</a:t>
            </a:r>
            <a:r>
              <a:rPr lang="en-US" sz="2800" dirty="0"/>
              <a:t> Bot is an advanced Robotic Process Automation (RPA) solution designed to streamline email management. Developed using UiPath, it automates email parsing, key detail extraction (e.g., payment details), attachment handling, and report generation. By integrating regex-based extraction and structured output storage, the bot ensures accurate, efficient, and consistent email processing, significantly reducing manual effort.</a:t>
            </a:r>
          </a:p>
          <a:p>
            <a:pPr marL="342900" lvl="0" indent="-342900" algn="l" rtl="0">
              <a:lnSpc>
                <a:spcPct val="114000"/>
              </a:lnSpc>
              <a:spcBef>
                <a:spcPts val="0"/>
              </a:spcBef>
              <a:spcAft>
                <a:spcPts val="0"/>
              </a:spcAft>
              <a:buClr>
                <a:schemeClr val="dk1"/>
              </a:buClr>
              <a:buSzPts val="2400"/>
              <a:buFont typeface="Noto Sans Symbols"/>
              <a:buChar char="▪"/>
            </a:pP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5"/>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Need for the Proposed System</a:t>
            </a:r>
            <a:endParaRPr>
              <a:latin typeface="Calibri"/>
              <a:ea typeface="Calibri"/>
              <a:cs typeface="Calibri"/>
              <a:sym typeface="Calibri"/>
            </a:endParaRPr>
          </a:p>
        </p:txBody>
      </p:sp>
      <p:sp>
        <p:nvSpPr>
          <p:cNvPr id="4" name="Text Placeholder 3">
            <a:extLst>
              <a:ext uri="{FF2B5EF4-FFF2-40B4-BE49-F238E27FC236}">
                <a16:creationId xmlns:a16="http://schemas.microsoft.com/office/drawing/2014/main" id="{41354B3C-B0ED-5E51-B7C7-6006BB320752}"/>
              </a:ext>
            </a:extLst>
          </p:cNvPr>
          <p:cNvSpPr>
            <a:spLocks noGrp="1" noChangeArrowheads="1"/>
          </p:cNvSpPr>
          <p:nvPr>
            <p:ph type="body" idx="1"/>
          </p:nvPr>
        </p:nvSpPr>
        <p:spPr bwMode="auto">
          <a:xfrm>
            <a:off x="105659" y="932736"/>
            <a:ext cx="8461887" cy="5639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200" b="1" dirty="0"/>
              <a:t>Problem Statement </a:t>
            </a:r>
          </a:p>
          <a:p>
            <a:r>
              <a:rPr lang="en-US" sz="2200" dirty="0"/>
              <a:t>Manual email handling, especially in organizations or academic settings, involves numerous repetitive tasks such as:</a:t>
            </a:r>
          </a:p>
          <a:p>
            <a:pPr>
              <a:buFont typeface="+mj-lt"/>
              <a:buAutoNum type="arabicPeriod"/>
            </a:pPr>
            <a:r>
              <a:rPr lang="en-US" sz="2200" dirty="0"/>
              <a:t>Parsing emails to extract critical information.</a:t>
            </a:r>
          </a:p>
          <a:p>
            <a:pPr>
              <a:buFont typeface="+mj-lt"/>
              <a:buAutoNum type="arabicPeriod"/>
            </a:pPr>
            <a:r>
              <a:rPr lang="en-US" sz="2200" dirty="0"/>
              <a:t>Downloading and organizing attachments.</a:t>
            </a:r>
          </a:p>
          <a:p>
            <a:pPr>
              <a:buFont typeface="+mj-lt"/>
              <a:buAutoNum type="arabicPeriod"/>
            </a:pPr>
            <a:r>
              <a:rPr lang="en-US" sz="2200" dirty="0"/>
              <a:t>Consolidating extracted information into reports.</a:t>
            </a:r>
          </a:p>
          <a:p>
            <a:r>
              <a:rPr lang="en-US" sz="2200" b="1" dirty="0"/>
              <a:t>Challenges</a:t>
            </a:r>
            <a:r>
              <a:rPr lang="en-US" sz="2200" dirty="0"/>
              <a:t>:</a:t>
            </a:r>
          </a:p>
          <a:p>
            <a:pPr>
              <a:buFont typeface="Arial" panose="020B0604020202020204" pitchFamily="34" charset="0"/>
              <a:buChar char="•"/>
            </a:pPr>
            <a:r>
              <a:rPr lang="en-US" sz="2200" dirty="0"/>
              <a:t>High risk of human error in handling complex or large datasets.</a:t>
            </a:r>
          </a:p>
          <a:p>
            <a:pPr>
              <a:buFont typeface="Arial" panose="020B0604020202020204" pitchFamily="34" charset="0"/>
              <a:buChar char="•"/>
            </a:pPr>
            <a:r>
              <a:rPr lang="en-US" sz="2200" dirty="0"/>
              <a:t>Inefficiency in managing bulk email volumes due to manual processing.</a:t>
            </a:r>
          </a:p>
          <a:p>
            <a:pPr>
              <a:buFont typeface="Arial" panose="020B0604020202020204" pitchFamily="34" charset="0"/>
              <a:buChar char="•"/>
            </a:pPr>
            <a:r>
              <a:rPr lang="en-US" sz="2200" dirty="0"/>
              <a:t>Lack of consistency in extracting key details like payment information or deadlines.</a:t>
            </a:r>
          </a:p>
          <a:p>
            <a:pPr marL="0" marR="0" lvl="0" indent="0"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dirty="0"/>
              <a:t>Advantages of the Proposed System</a:t>
            </a:r>
            <a:endParaRPr dirty="0">
              <a:latin typeface="Calibri"/>
              <a:ea typeface="Calibri"/>
              <a:cs typeface="Calibri"/>
              <a:sym typeface="Calibri"/>
            </a:endParaRPr>
          </a:p>
        </p:txBody>
      </p:sp>
      <p:sp>
        <p:nvSpPr>
          <p:cNvPr id="2" name="Text Placeholder 1">
            <a:extLst>
              <a:ext uri="{FF2B5EF4-FFF2-40B4-BE49-F238E27FC236}">
                <a16:creationId xmlns:a16="http://schemas.microsoft.com/office/drawing/2014/main" id="{C5A06CC5-9AE4-7E72-F5E5-B1C8E071CC2C}"/>
              </a:ext>
            </a:extLst>
          </p:cNvPr>
          <p:cNvSpPr>
            <a:spLocks noGrp="1" noChangeArrowheads="1"/>
          </p:cNvSpPr>
          <p:nvPr>
            <p:ph type="body" idx="1"/>
          </p:nvPr>
        </p:nvSpPr>
        <p:spPr bwMode="auto">
          <a:xfrm>
            <a:off x="190500" y="1457965"/>
            <a:ext cx="8953499"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Automation of Tedious and Repetitive Tasks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a:t>
            </a:r>
            <a:r>
              <a:rPr kumimoji="0" lang="en-US" altLang="en-US" sz="22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MailMinder</a:t>
            </a:r>
            <a:r>
              <a:rPr kumimoji="0" lang="en-US" altLang="en-US" sz="2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Bot automates repetitive email management task</a:t>
            </a:r>
            <a:r>
              <a:rPr kumimoji="0" lang="en-US" altLang="en-US" sz="2200" b="0" i="0" u="none" strike="noStrike" cap="none" normalizeH="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efforts.</a:t>
            </a:r>
            <a:endParaRPr kumimoji="0" lang="en-US" altLang="en-US" sz="22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High Accuracy in Key Detail Extraction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Using regex-based techniques, the system accurately extracts essential details like invoice numbers and due dates. </a:t>
            </a:r>
            <a:endParaRPr kumimoji="0" lang="en-US" altLang="en-US" sz="22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Systematic Organization of Attachments and Data</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Attachments are downloaded and stored in organized directories, and extracted data is structured systematically</a:t>
            </a:r>
            <a:endParaRPr kumimoji="0" lang="en-US" altLang="en-US" sz="22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Structured Report Generation for Decision-Making</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bot generates well-organized Excel reports with key insights, such as deadlines and payment details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Reduction in Manual Effort and Increased Efficiency</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By automating email processing, the system reduces the manual workload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7"/>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Literature Survey</a:t>
            </a:r>
            <a:endParaRPr>
              <a:latin typeface="Calibri"/>
              <a:ea typeface="Calibri"/>
              <a:cs typeface="Calibri"/>
              <a:sym typeface="Calibri"/>
            </a:endParaRPr>
          </a:p>
        </p:txBody>
      </p:sp>
      <p:sp>
        <p:nvSpPr>
          <p:cNvPr id="127" name="Google Shape;127;p17"/>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fontScale="92500" lnSpcReduction="10000"/>
          </a:bodyPr>
          <a:lstStyle/>
          <a:p>
            <a:r>
              <a:rPr lang="en-US" b="1" dirty="0"/>
              <a:t>Paper 1: "Automated Email Management Systems"</a:t>
            </a:r>
          </a:p>
          <a:p>
            <a:r>
              <a:rPr lang="en-US" b="1" dirty="0"/>
              <a:t>Authors:</a:t>
            </a:r>
            <a:r>
              <a:rPr lang="en-US" dirty="0"/>
              <a:t> Smith, J., &amp; Taylor, R.</a:t>
            </a:r>
            <a:br>
              <a:rPr lang="en-US" dirty="0"/>
            </a:br>
            <a:r>
              <a:rPr lang="en-US" b="1" dirty="0"/>
              <a:t>Summary:</a:t>
            </a:r>
            <a:br>
              <a:rPr lang="en-US" dirty="0"/>
            </a:br>
            <a:r>
              <a:rPr lang="en-US" dirty="0"/>
              <a:t>This paper explores the development and deployment of automated systems for managing email workflows in corporate environments. It highlights the role of automation in streamlining repetitive tasks, such as email sorting, content parsing, and data extraction, to improve operational efficiency.</a:t>
            </a:r>
          </a:p>
          <a:p>
            <a:pPr>
              <a:buFont typeface="Arial" panose="020B0604020202020204" pitchFamily="34" charset="0"/>
              <a:buChar char="•"/>
            </a:pPr>
            <a:r>
              <a:rPr lang="en-US" b="1" dirty="0"/>
              <a:t>Advantages:</a:t>
            </a:r>
            <a:r>
              <a:rPr lang="en-US" dirty="0"/>
              <a:t> Demonstrates significant improvements in task automation and operational efficiency by reducing manual intervention.</a:t>
            </a:r>
          </a:p>
          <a:p>
            <a:pPr>
              <a:buFont typeface="Arial" panose="020B0604020202020204" pitchFamily="34" charset="0"/>
              <a:buChar char="•"/>
            </a:pPr>
            <a:r>
              <a:rPr lang="en-US" b="1" dirty="0"/>
              <a:t>Disadvantages:</a:t>
            </a:r>
            <a:r>
              <a:rPr lang="en-US" dirty="0"/>
              <a:t> The system is limited to specific email use cases and lacks comprehensive data validation mechanisms, which could affect reliability in diverse applications.</a:t>
            </a:r>
          </a:p>
          <a:p>
            <a:pPr marL="0" lvl="0" indent="0" algn="l" rtl="0">
              <a:lnSpc>
                <a:spcPct val="114000"/>
              </a:lnSpc>
              <a:spcBef>
                <a:spcPts val="0"/>
              </a:spcBef>
              <a:spcAft>
                <a:spcPts val="0"/>
              </a:spcAft>
              <a:buClr>
                <a:schemeClr val="dk1"/>
              </a:buClr>
              <a:buSzPts val="2400"/>
              <a:buNone/>
            </a:pPr>
            <a:endParaRPr dirty="0"/>
          </a:p>
          <a:p>
            <a:pPr marL="342900" lvl="0" indent="-190500" algn="l" rtl="0">
              <a:lnSpc>
                <a:spcPct val="114000"/>
              </a:lnSpc>
              <a:spcBef>
                <a:spcPts val="480"/>
              </a:spcBef>
              <a:spcAft>
                <a:spcPts val="0"/>
              </a:spcAft>
              <a:buClr>
                <a:schemeClr val="dk1"/>
              </a:buClr>
              <a:buSzPts val="2400"/>
              <a:buFont typeface="Noto Sans Symbols"/>
              <a:buNone/>
            </a:pPr>
            <a:endParaRPr dirty="0"/>
          </a:p>
          <a:p>
            <a:pPr marL="342900" lvl="0" indent="-190500" algn="l" rtl="0">
              <a:lnSpc>
                <a:spcPct val="114000"/>
              </a:lnSpc>
              <a:spcBef>
                <a:spcPts val="480"/>
              </a:spcBef>
              <a:spcAft>
                <a:spcPts val="0"/>
              </a:spcAft>
              <a:buClr>
                <a:schemeClr val="dk1"/>
              </a:buClr>
              <a:buSzPts val="2400"/>
              <a:buFont typeface="Noto Sans Symbols"/>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152C76C9-5296-64AB-8C5E-198D409C5373}"/>
            </a:ext>
          </a:extLst>
        </p:cNvPr>
        <p:cNvGrpSpPr/>
        <p:nvPr/>
      </p:nvGrpSpPr>
      <p:grpSpPr>
        <a:xfrm>
          <a:off x="0" y="0"/>
          <a:ext cx="0" cy="0"/>
          <a:chOff x="0" y="0"/>
          <a:chExt cx="0" cy="0"/>
        </a:xfrm>
      </p:grpSpPr>
      <p:sp>
        <p:nvSpPr>
          <p:cNvPr id="126" name="Google Shape;126;p17">
            <a:extLst>
              <a:ext uri="{FF2B5EF4-FFF2-40B4-BE49-F238E27FC236}">
                <a16:creationId xmlns:a16="http://schemas.microsoft.com/office/drawing/2014/main" id="{7F3E2B24-7E3A-86E7-A971-E341C18ABFB1}"/>
              </a:ext>
            </a:extLst>
          </p:cNvPr>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Literature Survey</a:t>
            </a:r>
            <a:endParaRPr>
              <a:latin typeface="Calibri"/>
              <a:ea typeface="Calibri"/>
              <a:cs typeface="Calibri"/>
              <a:sym typeface="Calibri"/>
            </a:endParaRPr>
          </a:p>
        </p:txBody>
      </p:sp>
      <p:sp>
        <p:nvSpPr>
          <p:cNvPr id="127" name="Google Shape;127;p17">
            <a:extLst>
              <a:ext uri="{FF2B5EF4-FFF2-40B4-BE49-F238E27FC236}">
                <a16:creationId xmlns:a16="http://schemas.microsoft.com/office/drawing/2014/main" id="{A6712233-F1CB-C98A-6B01-3217D81B60AD}"/>
              </a:ext>
            </a:extLst>
          </p:cNvPr>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fontScale="92500" lnSpcReduction="10000"/>
          </a:bodyPr>
          <a:lstStyle/>
          <a:p>
            <a:r>
              <a:rPr lang="en-US" b="1" dirty="0"/>
              <a:t>Paper 2: "Regex-Based Information Extraction"</a:t>
            </a:r>
          </a:p>
          <a:p>
            <a:r>
              <a:rPr lang="en-US" b="1" dirty="0"/>
              <a:t>Authors:</a:t>
            </a:r>
            <a:r>
              <a:rPr lang="en-US" dirty="0"/>
              <a:t> Lee, H., &amp; Nguyen, T.</a:t>
            </a:r>
            <a:br>
              <a:rPr lang="en-US" dirty="0"/>
            </a:br>
            <a:r>
              <a:rPr lang="en-US" b="1" dirty="0"/>
              <a:t>Summary:</a:t>
            </a:r>
            <a:br>
              <a:rPr lang="en-US" dirty="0"/>
            </a:br>
            <a:r>
              <a:rPr lang="en-US" dirty="0"/>
              <a:t>This paper examines the use of regular expressions (regex) as a robust method for extracting structured data from unstructured text sources, such as emails and documents. The research discusses the versatility of regex-based extraction techniques and their applications across various industries.</a:t>
            </a:r>
          </a:p>
          <a:p>
            <a:pPr>
              <a:buFont typeface="Arial" panose="020B0604020202020204" pitchFamily="34" charset="0"/>
              <a:buChar char="•"/>
            </a:pPr>
            <a:r>
              <a:rPr lang="en-US" b="1" dirty="0"/>
              <a:t>Advantages:</a:t>
            </a:r>
            <a:r>
              <a:rPr lang="en-US" dirty="0"/>
              <a:t> Highly effective in identifying and extracting structured data, such as dates, payment details, and invoice numbers, from unstructured text.</a:t>
            </a:r>
          </a:p>
          <a:p>
            <a:pPr>
              <a:buFont typeface="Arial" panose="020B0604020202020204" pitchFamily="34" charset="0"/>
              <a:buChar char="•"/>
            </a:pPr>
            <a:r>
              <a:rPr lang="en-US" b="1" dirty="0"/>
              <a:t>Disadvantages:</a:t>
            </a:r>
            <a:r>
              <a:rPr lang="en-US" dirty="0"/>
              <a:t> Performance is heavily dependent on predefined patterns and the quality of input data, which may limit its adaptability to unforeseen formats or errors.</a:t>
            </a:r>
          </a:p>
          <a:p>
            <a:endParaRPr dirty="0"/>
          </a:p>
          <a:p>
            <a:pPr marL="342900" lvl="0" indent="-190500" algn="l" rtl="0">
              <a:lnSpc>
                <a:spcPct val="114000"/>
              </a:lnSpc>
              <a:spcBef>
                <a:spcPts val="480"/>
              </a:spcBef>
              <a:spcAft>
                <a:spcPts val="0"/>
              </a:spcAft>
              <a:buClr>
                <a:schemeClr val="dk1"/>
              </a:buClr>
              <a:buSzPts val="2400"/>
              <a:buFont typeface="Noto Sans Symbols"/>
              <a:buNone/>
            </a:pPr>
            <a:endParaRPr dirty="0"/>
          </a:p>
          <a:p>
            <a:pPr marL="342900" lvl="0" indent="-190500" algn="l" rtl="0">
              <a:lnSpc>
                <a:spcPct val="114000"/>
              </a:lnSpc>
              <a:spcBef>
                <a:spcPts val="480"/>
              </a:spcBef>
              <a:spcAft>
                <a:spcPts val="0"/>
              </a:spcAft>
              <a:buClr>
                <a:schemeClr val="dk1"/>
              </a:buClr>
              <a:buSzPts val="2400"/>
              <a:buFont typeface="Noto Sans Symbols"/>
              <a:buNone/>
            </a:pPr>
            <a:endParaRPr dirty="0"/>
          </a:p>
        </p:txBody>
      </p:sp>
    </p:spTree>
    <p:extLst>
      <p:ext uri="{BB962C8B-B14F-4D97-AF65-F5344CB8AC3E}">
        <p14:creationId xmlns:p14="http://schemas.microsoft.com/office/powerpoint/2010/main" val="384006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8"/>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Main Objective</a:t>
            </a:r>
            <a:endParaRPr>
              <a:latin typeface="Calibri"/>
              <a:ea typeface="Calibri"/>
              <a:cs typeface="Calibri"/>
              <a:sym typeface="Calibri"/>
            </a:endParaRPr>
          </a:p>
        </p:txBody>
      </p:sp>
      <p:sp>
        <p:nvSpPr>
          <p:cNvPr id="134" name="Google Shape;134;p18"/>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342900" algn="l" rtl="0">
              <a:lnSpc>
                <a:spcPct val="114000"/>
              </a:lnSpc>
              <a:spcBef>
                <a:spcPts val="0"/>
              </a:spcBef>
              <a:spcAft>
                <a:spcPts val="0"/>
              </a:spcAft>
              <a:buClr>
                <a:schemeClr val="dk1"/>
              </a:buClr>
              <a:buSzPts val="2400"/>
              <a:buFont typeface="Noto Sans Symbols"/>
              <a:buChar char="▪"/>
            </a:pPr>
            <a:r>
              <a:rPr lang="en-US" dirty="0"/>
              <a:t>The objective of </a:t>
            </a:r>
            <a:r>
              <a:rPr lang="en-US" i="1" dirty="0" err="1"/>
              <a:t>MailMinder</a:t>
            </a:r>
            <a:r>
              <a:rPr lang="en-US" dirty="0"/>
              <a:t> is to automate the process of efficiently parsing incoming emails, extracting key information such as payment details, invoice numbers, due dates, and other relevant data points, while managing attachments like invoices or receipts. By leveraging Robotic Process Automation (RPA) technologies, </a:t>
            </a:r>
            <a:r>
              <a:rPr lang="en-US" i="1" dirty="0" err="1"/>
              <a:t>MailMinder</a:t>
            </a:r>
            <a:r>
              <a:rPr lang="en-US" dirty="0"/>
              <a:t> aims to streamline the workflow of identifying, categorizing, and processing emails, reducing manual intervention. The bot will also generate structured reports, move important emails to designated folders, and store extracted data for easy access, ensuring seamless email management and data extraction for business operations.</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9"/>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Architecture</a:t>
            </a:r>
            <a:endParaRPr>
              <a:latin typeface="Calibri"/>
              <a:ea typeface="Calibri"/>
              <a:cs typeface="Calibri"/>
              <a:sym typeface="Calibri"/>
            </a:endParaRPr>
          </a:p>
        </p:txBody>
      </p:sp>
      <p:sp>
        <p:nvSpPr>
          <p:cNvPr id="141" name="Google Shape;141;p19"/>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lnSpcReduction="10000"/>
          </a:bodyPr>
          <a:lstStyle/>
          <a:p>
            <a:pPr algn="l"/>
            <a:r>
              <a:rPr lang="en-IN" sz="1800" b="1" i="0" u="none" strike="noStrike" baseline="0" dirty="0">
                <a:latin typeface="Times New Roman" panose="02020603050405020304" pitchFamily="18" charset="0"/>
              </a:rPr>
              <a:t>Input</a:t>
            </a:r>
            <a:r>
              <a:rPr lang="en-IN" sz="1800" b="0" i="0" u="none" strike="noStrike" baseline="0" dirty="0">
                <a:latin typeface="Times New Roman" panose="02020603050405020304" pitchFamily="18" charset="0"/>
              </a:rPr>
              <a:t>:</a:t>
            </a:r>
          </a:p>
          <a:p>
            <a:pPr marL="76200" indent="0">
              <a:buNone/>
            </a:pPr>
            <a:r>
              <a:rPr lang="en-US" sz="1800" b="0" i="0" u="none" strike="noStrike" baseline="0" dirty="0">
                <a:latin typeface="SymbolMT"/>
              </a:rPr>
              <a:t>      • </a:t>
            </a:r>
            <a:r>
              <a:rPr lang="en-US" sz="1800" b="0" i="0" u="none" strike="noStrike" baseline="0" dirty="0">
                <a:latin typeface="Times New Roman" panose="02020603050405020304" pitchFamily="18" charset="0"/>
              </a:rPr>
              <a:t>User credentials to access the IMAP server.</a:t>
            </a:r>
          </a:p>
          <a:p>
            <a:pPr marL="76200" indent="0">
              <a:buNone/>
            </a:pPr>
            <a:r>
              <a:rPr lang="en-US" sz="1800" b="0" i="0" u="none" strike="noStrike" baseline="0" dirty="0">
                <a:latin typeface="SymbolMT"/>
              </a:rPr>
              <a:t>      • </a:t>
            </a:r>
            <a:r>
              <a:rPr lang="en-US" sz="1800" b="0" i="0" u="none" strike="noStrike" baseline="0" dirty="0">
                <a:latin typeface="Times New Roman" panose="02020603050405020304" pitchFamily="18" charset="0"/>
              </a:rPr>
              <a:t>Emails fetched from the server and their respective attachments.</a:t>
            </a:r>
          </a:p>
          <a:p>
            <a:pPr algn="l"/>
            <a:r>
              <a:rPr lang="en-IN" sz="1800" b="1" i="0" u="none" strike="noStrike" baseline="0" dirty="0">
                <a:latin typeface="Times New Roman" panose="02020603050405020304" pitchFamily="18" charset="0"/>
              </a:rPr>
              <a:t>Process</a:t>
            </a:r>
            <a:r>
              <a:rPr lang="en-IN" sz="1800" b="0" i="0" u="none" strike="noStrike" baseline="0" dirty="0">
                <a:latin typeface="Times New Roman" panose="02020603050405020304" pitchFamily="18" charset="0"/>
              </a:rPr>
              <a:t>:</a:t>
            </a:r>
          </a:p>
          <a:p>
            <a:pPr marL="76200" indent="0" algn="l">
              <a:buNone/>
            </a:pPr>
            <a:r>
              <a:rPr lang="en-US" sz="1800" b="0" i="0" u="none" strike="noStrike" baseline="0" dirty="0">
                <a:latin typeface="SymbolMT"/>
              </a:rPr>
              <a:t>      • </a:t>
            </a:r>
            <a:r>
              <a:rPr lang="en-US" sz="1800" b="1" i="0" u="none" strike="noStrike" baseline="0" dirty="0">
                <a:latin typeface="Times New Roman" panose="02020603050405020304" pitchFamily="18" charset="0"/>
              </a:rPr>
              <a:t>Input Layer</a:t>
            </a:r>
            <a:r>
              <a:rPr lang="en-US" sz="1800" b="0" i="0" u="none" strike="noStrike" baseline="0" dirty="0">
                <a:latin typeface="Times New Roman" panose="02020603050405020304" pitchFamily="18" charset="0"/>
              </a:rPr>
              <a:t>: Handles communication with the email server.</a:t>
            </a:r>
          </a:p>
          <a:p>
            <a:pPr marL="76200" indent="0" algn="l">
              <a:buNone/>
            </a:pPr>
            <a:r>
              <a:rPr lang="en-IN" sz="1800" b="0" i="0" u="none" strike="noStrike" baseline="0" dirty="0">
                <a:latin typeface="SymbolMT"/>
              </a:rPr>
              <a:t>      • </a:t>
            </a:r>
            <a:r>
              <a:rPr lang="en-IN" sz="1800" b="1" i="0" u="none" strike="noStrike" baseline="0" dirty="0">
                <a:latin typeface="Times New Roman" panose="02020603050405020304" pitchFamily="18" charset="0"/>
              </a:rPr>
              <a:t>Processing Layer</a:t>
            </a:r>
            <a:r>
              <a:rPr lang="en-IN" sz="1800" b="0" i="0" u="none" strike="noStrike" baseline="0" dirty="0">
                <a:latin typeface="Times New Roman" panose="02020603050405020304" pitchFamily="18" charset="0"/>
              </a:rPr>
              <a:t>: Parses emails, extracts information, processes</a:t>
            </a:r>
          </a:p>
          <a:p>
            <a:pPr marL="76200" indent="0" algn="l">
              <a:buNone/>
            </a:pPr>
            <a:r>
              <a:rPr lang="en-IN" sz="1800" b="0" i="0" u="none" strike="noStrike" baseline="0" dirty="0">
                <a:latin typeface="Times New Roman" panose="02020603050405020304" pitchFamily="18" charset="0"/>
              </a:rPr>
              <a:t>        attachments, and validates data.</a:t>
            </a:r>
          </a:p>
          <a:p>
            <a:pPr marL="76200" indent="0" algn="l">
              <a:buNone/>
            </a:pPr>
            <a:r>
              <a:rPr lang="en-US" sz="1800" b="0" i="0" u="none" strike="noStrike" baseline="0" dirty="0">
                <a:latin typeface="SymbolMT"/>
              </a:rPr>
              <a:t>      • </a:t>
            </a:r>
            <a:r>
              <a:rPr lang="en-US" sz="1800" b="1" i="0" u="none" strike="noStrike" baseline="0" dirty="0">
                <a:latin typeface="Times New Roman" panose="02020603050405020304" pitchFamily="18" charset="0"/>
              </a:rPr>
              <a:t>Storage Layer</a:t>
            </a:r>
            <a:r>
              <a:rPr lang="en-US" sz="1800" b="0" i="0" u="none" strike="noStrike" baseline="0" dirty="0">
                <a:latin typeface="Times New Roman" panose="02020603050405020304" pitchFamily="18" charset="0"/>
              </a:rPr>
              <a:t>: Stores attachments, organizes data, and creates reports.</a:t>
            </a:r>
          </a:p>
          <a:p>
            <a:pPr marL="76200" indent="0" algn="l">
              <a:buNone/>
            </a:pPr>
            <a:r>
              <a:rPr lang="en-US" sz="1800" b="0" i="0" u="none" strike="noStrike" baseline="0" dirty="0">
                <a:latin typeface="SymbolMT"/>
              </a:rPr>
              <a:t>      • </a:t>
            </a:r>
            <a:r>
              <a:rPr lang="en-US" sz="1800" b="1" i="0" u="none" strike="noStrike" baseline="0" dirty="0">
                <a:latin typeface="Times New Roman" panose="02020603050405020304" pitchFamily="18" charset="0"/>
              </a:rPr>
              <a:t>Output Layer</a:t>
            </a:r>
            <a:r>
              <a:rPr lang="en-US" sz="1800" b="0" i="0" u="none" strike="noStrike" baseline="0" dirty="0">
                <a:latin typeface="Times New Roman" panose="02020603050405020304" pitchFamily="18" charset="0"/>
              </a:rPr>
              <a:t>: Notifies users and provides a report viewer for</a:t>
            </a:r>
          </a:p>
          <a:p>
            <a:pPr marL="76200" indent="0" algn="l">
              <a:buNone/>
            </a:pPr>
            <a:r>
              <a:rPr lang="en-IN" sz="1800" b="0" i="0" u="none" strike="noStrike" baseline="0" dirty="0">
                <a:latin typeface="Times New Roman" panose="02020603050405020304" pitchFamily="18" charset="0"/>
              </a:rPr>
              <a:t>          administrators.</a:t>
            </a:r>
          </a:p>
          <a:p>
            <a:pPr algn="l"/>
            <a:r>
              <a:rPr lang="en-IN" sz="1800" b="1" i="0" u="none" strike="noStrike" baseline="0" dirty="0">
                <a:latin typeface="Times New Roman" panose="02020603050405020304" pitchFamily="18" charset="0"/>
              </a:rPr>
              <a:t>Output</a:t>
            </a:r>
            <a:r>
              <a:rPr lang="en-IN" sz="1800" b="0" i="0" u="none" strike="noStrike" baseline="0" dirty="0">
                <a:latin typeface="Times New Roman" panose="02020603050405020304" pitchFamily="18" charset="0"/>
              </a:rPr>
              <a:t>:</a:t>
            </a:r>
          </a:p>
          <a:p>
            <a:pPr marL="76200" indent="0" algn="l">
              <a:buNone/>
            </a:pPr>
            <a:r>
              <a:rPr lang="en-US" sz="1800" b="0" i="0" u="none" strike="noStrike" baseline="0" dirty="0">
                <a:latin typeface="SymbolMT"/>
              </a:rPr>
              <a:t>      • </a:t>
            </a:r>
            <a:r>
              <a:rPr lang="en-US" sz="1800" b="0" i="0" u="none" strike="noStrike" baseline="0" dirty="0">
                <a:latin typeface="Times New Roman" panose="02020603050405020304" pitchFamily="18" charset="0"/>
              </a:rPr>
              <a:t>Validated data is stored in a structured format (Excel or database).</a:t>
            </a:r>
          </a:p>
          <a:p>
            <a:pPr marL="76200" indent="0" algn="l">
              <a:buNone/>
            </a:pPr>
            <a:r>
              <a:rPr lang="en-US" sz="1800" b="0" i="0" u="none" strike="noStrike" baseline="0" dirty="0">
                <a:latin typeface="SymbolMT"/>
              </a:rPr>
              <a:t>      • </a:t>
            </a:r>
            <a:r>
              <a:rPr lang="en-US" sz="1800" b="0" i="0" u="none" strike="noStrike" baseline="0" dirty="0">
                <a:latin typeface="Times New Roman" panose="02020603050405020304" pitchFamily="18" charset="0"/>
              </a:rPr>
              <a:t>Notifications are sent to users.</a:t>
            </a:r>
          </a:p>
          <a:p>
            <a:pPr marL="76200" indent="0" algn="l">
              <a:buNone/>
            </a:pPr>
            <a:r>
              <a:rPr lang="en-US" sz="1800" b="0" i="0" u="none" strike="noStrike" baseline="0" dirty="0">
                <a:latin typeface="SymbolMT"/>
              </a:rPr>
              <a:t>      • </a:t>
            </a:r>
            <a:r>
              <a:rPr lang="en-US" sz="1800" b="0" i="0" u="none" strike="noStrike" baseline="0" dirty="0">
                <a:latin typeface="Times New Roman" panose="02020603050405020304" pitchFamily="18" charset="0"/>
              </a:rPr>
              <a:t>Admins access detailed reports for oversight.</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5AD5BF04-C8CB-7D2F-C846-A7891C07995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987E253-60A2-1BD5-DDB4-6BE4C9A41111}"/>
              </a:ext>
            </a:extLst>
          </p:cNvPr>
          <p:cNvPicPr>
            <a:picLocks noChangeAspect="1"/>
          </p:cNvPicPr>
          <p:nvPr/>
        </p:nvPicPr>
        <p:blipFill>
          <a:blip r:embed="rId3"/>
          <a:stretch>
            <a:fillRect/>
          </a:stretch>
        </p:blipFill>
        <p:spPr>
          <a:xfrm>
            <a:off x="1715679" y="75415"/>
            <a:ext cx="6070862" cy="6218237"/>
          </a:xfrm>
          <a:prstGeom prst="rect">
            <a:avLst/>
          </a:prstGeom>
        </p:spPr>
      </p:pic>
    </p:spTree>
    <p:extLst>
      <p:ext uri="{BB962C8B-B14F-4D97-AF65-F5344CB8AC3E}">
        <p14:creationId xmlns:p14="http://schemas.microsoft.com/office/powerpoint/2010/main" val="2108579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0"/>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System Requirements</a:t>
            </a:r>
            <a:endParaRPr>
              <a:latin typeface="Calibri"/>
              <a:ea typeface="Calibri"/>
              <a:cs typeface="Calibri"/>
              <a:sym typeface="Calibri"/>
            </a:endParaRPr>
          </a:p>
        </p:txBody>
      </p:sp>
      <p:sp>
        <p:nvSpPr>
          <p:cNvPr id="148" name="Google Shape;148;p20"/>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fontScale="92500" lnSpcReduction="20000"/>
          </a:bodyPr>
          <a:lstStyle/>
          <a:p>
            <a:r>
              <a:rPr lang="en-IN" b="1" dirty="0"/>
              <a:t>Hardware:</a:t>
            </a:r>
          </a:p>
          <a:p>
            <a:pPr marL="76200" indent="0">
              <a:buNone/>
            </a:pPr>
            <a:r>
              <a:rPr lang="en-IN" b="1" dirty="0"/>
              <a:t>      Processor</a:t>
            </a:r>
            <a:r>
              <a:rPr lang="en-IN" dirty="0"/>
              <a:t>: Intel i3 or equivalent (i5/i7 recommended)</a:t>
            </a:r>
          </a:p>
          <a:p>
            <a:pPr marL="76200" indent="0">
              <a:buNone/>
            </a:pPr>
            <a:r>
              <a:rPr lang="en-IN" b="1" dirty="0"/>
              <a:t>      RAM</a:t>
            </a:r>
            <a:r>
              <a:rPr lang="en-IN" dirty="0"/>
              <a:t>: 4 GB (8 GB recommended)</a:t>
            </a:r>
          </a:p>
          <a:p>
            <a:pPr marL="76200" indent="0">
              <a:buNone/>
            </a:pPr>
            <a:r>
              <a:rPr lang="en-IN" b="1" dirty="0"/>
              <a:t>      Storage</a:t>
            </a:r>
            <a:r>
              <a:rPr lang="en-IN" dirty="0"/>
              <a:t>: 20 GB free space (50 GB recommended)</a:t>
            </a:r>
          </a:p>
          <a:p>
            <a:pPr marL="76200" indent="0">
              <a:buNone/>
            </a:pPr>
            <a:r>
              <a:rPr lang="en-IN" b="1" dirty="0"/>
              <a:t>      Network</a:t>
            </a:r>
            <a:r>
              <a:rPr lang="en-IN" dirty="0"/>
              <a:t>: Stable internet connection for email and cloud access</a:t>
            </a:r>
          </a:p>
          <a:p>
            <a:r>
              <a:rPr lang="en-IN" b="1" dirty="0"/>
              <a:t>Software:</a:t>
            </a:r>
          </a:p>
          <a:p>
            <a:pPr marL="76200" indent="0">
              <a:buNone/>
            </a:pPr>
            <a:r>
              <a:rPr lang="en-IN" b="1" dirty="0"/>
              <a:t>      OS</a:t>
            </a:r>
            <a:r>
              <a:rPr lang="en-IN" dirty="0"/>
              <a:t>: Windows 10/Server 2019 or Linux (Ubuntu 18.04+)</a:t>
            </a:r>
          </a:p>
          <a:p>
            <a:pPr marL="76200" indent="0">
              <a:buNone/>
            </a:pPr>
            <a:r>
              <a:rPr lang="en-IN" b="1" dirty="0"/>
              <a:t>      Email Client</a:t>
            </a:r>
            <a:r>
              <a:rPr lang="en-IN" dirty="0"/>
              <a:t>: Gmail, Outlook, or IMAP/SMTP-compatible service</a:t>
            </a:r>
          </a:p>
          <a:p>
            <a:pPr marL="76200" indent="0">
              <a:buNone/>
            </a:pPr>
            <a:r>
              <a:rPr lang="en-IN" b="1" dirty="0"/>
              <a:t>      RPA Tool</a:t>
            </a:r>
            <a:r>
              <a:rPr lang="en-IN" dirty="0"/>
              <a:t>: UiPath, Automation Anywhere, or Blue Prism</a:t>
            </a:r>
          </a:p>
          <a:p>
            <a:pPr marL="76200" indent="0">
              <a:buNone/>
            </a:pPr>
            <a:r>
              <a:rPr lang="en-IN" b="1" dirty="0"/>
              <a:t>      Programming Languages</a:t>
            </a:r>
            <a:r>
              <a:rPr lang="en-IN" dirty="0"/>
              <a:t>: Python, C# or VB.NET</a:t>
            </a:r>
          </a:p>
          <a:p>
            <a:pPr marL="76200" indent="0">
              <a:buNone/>
            </a:pPr>
            <a:r>
              <a:rPr lang="en-IN" b="1" dirty="0"/>
              <a:t>      Cloud Storage</a:t>
            </a:r>
            <a:r>
              <a:rPr lang="en-IN" dirty="0"/>
              <a:t>: Google Drive, Dropbox, or AWS S3 (optional)</a:t>
            </a:r>
          </a:p>
          <a:p>
            <a:pPr marL="76200" indent="0">
              <a:buNone/>
            </a:pPr>
            <a:r>
              <a:rPr lang="en-IN" b="1" dirty="0"/>
              <a:t>      OCR Tool</a:t>
            </a:r>
            <a:r>
              <a:rPr lang="en-IN" dirty="0"/>
              <a:t>: Tesseract (for scanned PDFs)</a:t>
            </a:r>
          </a:p>
          <a:p>
            <a:pPr marL="76200" indent="0">
              <a:buNone/>
            </a:pPr>
            <a:r>
              <a:rPr lang="en-IN" b="1" dirty="0"/>
              <a:t>       Database</a:t>
            </a:r>
            <a:r>
              <a:rPr lang="en-IN" dirty="0"/>
              <a:t>: MySQL or PostgreSQL (optional)</a:t>
            </a:r>
          </a:p>
          <a:p>
            <a:pPr marL="342900" lvl="0" indent="-342900" algn="l" rtl="0">
              <a:lnSpc>
                <a:spcPct val="114000"/>
              </a:lnSpc>
              <a:spcBef>
                <a:spcPts val="0"/>
              </a:spcBef>
              <a:spcAft>
                <a:spcPts val="0"/>
              </a:spcAft>
              <a:buClr>
                <a:schemeClr val="dk1"/>
              </a:buClr>
              <a:buSzPts val="2400"/>
              <a:buFont typeface="Noto Sans Symbols"/>
              <a:buChar char="▪"/>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1"/>
          <p:cNvSpPr txBox="1">
            <a:spLocks noGrp="1"/>
          </p:cNvSpPr>
          <p:nvPr>
            <p:ph type="title"/>
          </p:nvPr>
        </p:nvSpPr>
        <p:spPr>
          <a:xfrm>
            <a:off x="115085" y="167874"/>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dirty="0"/>
              <a:t>Functional Description</a:t>
            </a:r>
            <a:endParaRPr dirty="0">
              <a:latin typeface="Calibri"/>
              <a:ea typeface="Calibri"/>
              <a:cs typeface="Calibri"/>
              <a:sym typeface="Calibri"/>
            </a:endParaRPr>
          </a:p>
        </p:txBody>
      </p:sp>
      <p:sp>
        <p:nvSpPr>
          <p:cNvPr id="155" name="Google Shape;155;p21"/>
          <p:cNvSpPr txBox="1">
            <a:spLocks noGrp="1"/>
          </p:cNvSpPr>
          <p:nvPr>
            <p:ph type="body" idx="1"/>
          </p:nvPr>
        </p:nvSpPr>
        <p:spPr>
          <a:xfrm>
            <a:off x="265915" y="952107"/>
            <a:ext cx="3721623" cy="5334000"/>
          </a:xfrm>
          <a:prstGeom prst="rect">
            <a:avLst/>
          </a:prstGeom>
          <a:noFill/>
          <a:ln>
            <a:noFill/>
          </a:ln>
        </p:spPr>
        <p:txBody>
          <a:bodyPr spcFirstLastPara="1" wrap="square" lIns="91425" tIns="45700" rIns="91425" bIns="45700" anchor="t" anchorCtr="0">
            <a:normAutofit/>
          </a:bodyPr>
          <a:lstStyle/>
          <a:p>
            <a:pPr marL="342900" lvl="0" indent="-342900" algn="l" rtl="0">
              <a:lnSpc>
                <a:spcPct val="114000"/>
              </a:lnSpc>
              <a:spcBef>
                <a:spcPts val="0"/>
              </a:spcBef>
              <a:spcAft>
                <a:spcPts val="0"/>
              </a:spcAft>
              <a:buClr>
                <a:schemeClr val="dk1"/>
              </a:buClr>
              <a:buSzPts val="2400"/>
              <a:buFont typeface="Noto Sans Symbols"/>
              <a:buChar char="▪"/>
            </a:pPr>
            <a:r>
              <a:rPr lang="en-US" dirty="0"/>
              <a:t>Email Extraction Module</a:t>
            </a:r>
          </a:p>
          <a:p>
            <a:pPr marL="342900" lvl="0" indent="-342900" algn="l" rtl="0">
              <a:lnSpc>
                <a:spcPct val="114000"/>
              </a:lnSpc>
              <a:spcBef>
                <a:spcPts val="0"/>
              </a:spcBef>
              <a:spcAft>
                <a:spcPts val="0"/>
              </a:spcAft>
              <a:buClr>
                <a:schemeClr val="dk1"/>
              </a:buClr>
              <a:buSzPts val="2400"/>
              <a:buFont typeface="Noto Sans Symbols"/>
              <a:buChar char="▪"/>
            </a:pPr>
            <a:endParaRPr lang="en-US" dirty="0"/>
          </a:p>
          <a:p>
            <a:pPr marL="342900" lvl="0" indent="-342900" algn="l" rtl="0">
              <a:lnSpc>
                <a:spcPct val="114000"/>
              </a:lnSpc>
              <a:spcBef>
                <a:spcPts val="0"/>
              </a:spcBef>
              <a:spcAft>
                <a:spcPts val="0"/>
              </a:spcAft>
              <a:buClr>
                <a:schemeClr val="dk1"/>
              </a:buClr>
              <a:buSzPts val="2400"/>
              <a:buFont typeface="Noto Sans Symbols"/>
              <a:buChar char="▪"/>
            </a:pPr>
            <a:endParaRPr lang="en-US" dirty="0"/>
          </a:p>
          <a:p>
            <a:pPr marL="342900" lvl="0" indent="-342900" algn="l" rtl="0">
              <a:lnSpc>
                <a:spcPct val="114000"/>
              </a:lnSpc>
              <a:spcBef>
                <a:spcPts val="0"/>
              </a:spcBef>
              <a:spcAft>
                <a:spcPts val="0"/>
              </a:spcAft>
              <a:buClr>
                <a:schemeClr val="dk1"/>
              </a:buClr>
              <a:buSzPts val="2400"/>
              <a:buFont typeface="Noto Sans Symbols"/>
              <a:buChar char="▪"/>
            </a:pPr>
            <a:endParaRPr lang="en-US" dirty="0"/>
          </a:p>
          <a:p>
            <a:pPr marL="342900" lvl="0" indent="-342900" algn="l" rtl="0">
              <a:lnSpc>
                <a:spcPct val="114000"/>
              </a:lnSpc>
              <a:spcBef>
                <a:spcPts val="0"/>
              </a:spcBef>
              <a:spcAft>
                <a:spcPts val="0"/>
              </a:spcAft>
              <a:buClr>
                <a:schemeClr val="dk1"/>
              </a:buClr>
              <a:buSzPts val="2400"/>
              <a:buFont typeface="Noto Sans Symbols"/>
              <a:buChar char="▪"/>
            </a:pPr>
            <a:endParaRPr lang="en-US" dirty="0"/>
          </a:p>
          <a:p>
            <a:pPr marL="342900" lvl="0" indent="-342900" algn="l" rtl="0">
              <a:lnSpc>
                <a:spcPct val="114000"/>
              </a:lnSpc>
              <a:spcBef>
                <a:spcPts val="0"/>
              </a:spcBef>
              <a:spcAft>
                <a:spcPts val="0"/>
              </a:spcAft>
              <a:buClr>
                <a:schemeClr val="dk1"/>
              </a:buClr>
              <a:buSzPts val="2400"/>
              <a:buFont typeface="Noto Sans Symbols"/>
              <a:buChar char="▪"/>
            </a:pPr>
            <a:endParaRPr lang="en-US" dirty="0"/>
          </a:p>
          <a:p>
            <a:pPr marL="342900" lvl="0" indent="-342900" algn="l" rtl="0">
              <a:lnSpc>
                <a:spcPct val="114000"/>
              </a:lnSpc>
              <a:spcBef>
                <a:spcPts val="0"/>
              </a:spcBef>
              <a:spcAft>
                <a:spcPts val="0"/>
              </a:spcAft>
              <a:buClr>
                <a:schemeClr val="dk1"/>
              </a:buClr>
              <a:buSzPts val="2400"/>
              <a:buFont typeface="Noto Sans Symbols"/>
              <a:buChar char="▪"/>
            </a:pPr>
            <a:endParaRPr lang="en-US" sz="1400" dirty="0"/>
          </a:p>
          <a:p>
            <a:pPr marL="0" lvl="0" indent="0" algn="l" rtl="0">
              <a:lnSpc>
                <a:spcPct val="114000"/>
              </a:lnSpc>
              <a:spcBef>
                <a:spcPts val="0"/>
              </a:spcBef>
              <a:spcAft>
                <a:spcPts val="0"/>
              </a:spcAft>
              <a:buClr>
                <a:schemeClr val="dk1"/>
              </a:buClr>
              <a:buSzPts val="2400"/>
              <a:buNone/>
            </a:pPr>
            <a:endParaRPr lang="en-US" dirty="0"/>
          </a:p>
          <a:p>
            <a:pPr marL="342900" lvl="0" indent="-190500" algn="l" rtl="0">
              <a:lnSpc>
                <a:spcPct val="114000"/>
              </a:lnSpc>
              <a:spcBef>
                <a:spcPts val="480"/>
              </a:spcBef>
              <a:spcAft>
                <a:spcPts val="0"/>
              </a:spcAft>
              <a:buClr>
                <a:schemeClr val="dk1"/>
              </a:buClr>
              <a:buSzPts val="2400"/>
              <a:buFont typeface="Noto Sans Symbols"/>
              <a:buNone/>
            </a:pPr>
            <a:endParaRPr dirty="0"/>
          </a:p>
        </p:txBody>
      </p:sp>
      <p:pic>
        <p:nvPicPr>
          <p:cNvPr id="4098" name="Picture 2">
            <a:extLst>
              <a:ext uri="{FF2B5EF4-FFF2-40B4-BE49-F238E27FC236}">
                <a16:creationId xmlns:a16="http://schemas.microsoft.com/office/drawing/2014/main" id="{2D3A19CF-AAC6-87E5-681A-7A36616FA0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4745" y="1066407"/>
            <a:ext cx="5043340" cy="52197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3539750D-5090-1808-80A0-128415977D59}"/>
              </a:ext>
            </a:extLst>
          </p:cNvPr>
          <p:cNvSpPr>
            <a:spLocks noChangeArrowheads="1"/>
          </p:cNvSpPr>
          <p:nvPr/>
        </p:nvSpPr>
        <p:spPr bwMode="auto">
          <a:xfrm>
            <a:off x="358219" y="668863"/>
            <a:ext cx="3476526"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endParaRPr lang="en-US" altLang="en-US" sz="1800" b="1" dirty="0">
              <a:solidFill>
                <a:schemeClr val="tx1"/>
              </a:solidFill>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Payment Details</a:t>
            </a:r>
            <a:r>
              <a:rPr kumimoji="0" lang="en-US" altLang="en-US" sz="1800" b="0" i="0" u="none" strike="noStrike" cap="none" normalizeH="0" baseline="0" dirty="0">
                <a:ln>
                  <a:noFill/>
                </a:ln>
                <a:solidFill>
                  <a:schemeClr val="tx1"/>
                </a:solidFill>
                <a:effectLst/>
                <a:latin typeface="Arial" panose="020B0604020202020204" pitchFamily="34" charset="0"/>
              </a:rPr>
              <a:t>: Extracts invoice number, dates, amount, and company name.</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Classification</a:t>
            </a:r>
            <a:r>
              <a:rPr kumimoji="0" lang="en-US" altLang="en-US" sz="1800" b="0" i="0" u="none" strike="noStrike" cap="none" normalizeH="0" baseline="0" dirty="0">
                <a:ln>
                  <a:noFill/>
                </a:ln>
                <a:solidFill>
                  <a:schemeClr val="tx1"/>
                </a:solidFill>
                <a:effectLst/>
                <a:latin typeface="Arial" panose="020B0604020202020204" pitchFamily="34" charset="0"/>
              </a:rPr>
              <a:t>: Detects emails with payment info.</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Automation</a:t>
            </a:r>
            <a:r>
              <a:rPr kumimoji="0" lang="en-US" altLang="en-US" sz="1800" b="0" i="0" u="none" strike="noStrike" cap="none" normalizeH="0" baseline="0" dirty="0">
                <a:ln>
                  <a:noFill/>
                </a:ln>
                <a:solidFill>
                  <a:schemeClr val="tx1"/>
                </a:solidFill>
                <a:effectLst/>
                <a:latin typeface="Arial" panose="020B0604020202020204" pitchFamily="34" charset="0"/>
              </a:rPr>
              <a:t>: Reduces manual effort in data extraction.</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Accuracy</a:t>
            </a:r>
            <a:r>
              <a:rPr kumimoji="0" lang="en-US" altLang="en-US" sz="1800" b="0" i="0" u="none" strike="noStrike" cap="none" normalizeH="0" baseline="0" dirty="0">
                <a:ln>
                  <a:noFill/>
                </a:ln>
                <a:solidFill>
                  <a:schemeClr val="tx1"/>
                </a:solidFill>
                <a:effectLst/>
                <a:latin typeface="Arial" panose="020B0604020202020204" pitchFamily="34" charset="0"/>
              </a:rPr>
              <a:t>: Ensures precise extraction from emails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Formatting</a:t>
            </a:r>
            <a:r>
              <a:rPr kumimoji="0" lang="en-US" altLang="en-US" sz="1800" b="0" i="0" u="sng" strike="noStrike" cap="none" normalizeH="0" baseline="0" dirty="0">
                <a:ln>
                  <a:noFill/>
                </a:ln>
                <a:solidFill>
                  <a:schemeClr val="tx1"/>
                </a:solidFill>
                <a:effectLst/>
                <a:latin typeface="Arial" panose="020B0604020202020204" pitchFamily="34" charset="0"/>
              </a:rPr>
              <a:t>: Displays details in a structured format.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482417F0-A80F-4DA9-5052-36FABC7D2DD0}"/>
            </a:ext>
          </a:extLst>
        </p:cNvPr>
        <p:cNvGrpSpPr/>
        <p:nvPr/>
      </p:nvGrpSpPr>
      <p:grpSpPr>
        <a:xfrm>
          <a:off x="0" y="0"/>
          <a:ext cx="0" cy="0"/>
          <a:chOff x="0" y="0"/>
          <a:chExt cx="0" cy="0"/>
        </a:xfrm>
      </p:grpSpPr>
      <p:sp>
        <p:nvSpPr>
          <p:cNvPr id="154" name="Google Shape;154;p21">
            <a:extLst>
              <a:ext uri="{FF2B5EF4-FFF2-40B4-BE49-F238E27FC236}">
                <a16:creationId xmlns:a16="http://schemas.microsoft.com/office/drawing/2014/main" id="{83C3B8FA-6ED4-E0A7-AA96-75AE50C0DE7D}"/>
              </a:ext>
            </a:extLst>
          </p:cNvPr>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Functional Description</a:t>
            </a:r>
            <a:endParaRPr>
              <a:latin typeface="Calibri"/>
              <a:ea typeface="Calibri"/>
              <a:cs typeface="Calibri"/>
              <a:sym typeface="Calibri"/>
            </a:endParaRPr>
          </a:p>
        </p:txBody>
      </p:sp>
      <p:sp>
        <p:nvSpPr>
          <p:cNvPr id="155" name="Google Shape;155;p21">
            <a:extLst>
              <a:ext uri="{FF2B5EF4-FFF2-40B4-BE49-F238E27FC236}">
                <a16:creationId xmlns:a16="http://schemas.microsoft.com/office/drawing/2014/main" id="{63FC76ED-3CD3-D8E4-1105-3A0027C899B4}"/>
              </a:ext>
            </a:extLst>
          </p:cNvPr>
          <p:cNvSpPr txBox="1">
            <a:spLocks noGrp="1"/>
          </p:cNvSpPr>
          <p:nvPr>
            <p:ph type="body" idx="1"/>
          </p:nvPr>
        </p:nvSpPr>
        <p:spPr>
          <a:xfrm>
            <a:off x="190500" y="871979"/>
            <a:ext cx="3797038" cy="5452621"/>
          </a:xfrm>
          <a:prstGeom prst="rect">
            <a:avLst/>
          </a:prstGeom>
          <a:noFill/>
          <a:ln>
            <a:noFill/>
          </a:ln>
        </p:spPr>
        <p:txBody>
          <a:bodyPr spcFirstLastPara="1" wrap="square" lIns="91425" tIns="45700" rIns="91425" bIns="45700" anchor="t" anchorCtr="0">
            <a:normAutofit/>
          </a:bodyPr>
          <a:lstStyle/>
          <a:p>
            <a:pPr marL="342900" lvl="0" indent="-342900" algn="l" rtl="0">
              <a:lnSpc>
                <a:spcPct val="114000"/>
              </a:lnSpc>
              <a:spcBef>
                <a:spcPts val="0"/>
              </a:spcBef>
              <a:spcAft>
                <a:spcPts val="0"/>
              </a:spcAft>
              <a:buClr>
                <a:schemeClr val="dk1"/>
              </a:buClr>
              <a:buSzPts val="2400"/>
              <a:buFont typeface="Noto Sans Symbols"/>
              <a:buChar char="▪"/>
            </a:pPr>
            <a:r>
              <a:rPr lang="en-US" dirty="0"/>
              <a:t>Regex and Excel Module</a:t>
            </a:r>
          </a:p>
          <a:p>
            <a:pPr marL="0" lvl="0" indent="0" algn="l" rtl="0">
              <a:lnSpc>
                <a:spcPct val="114000"/>
              </a:lnSpc>
              <a:spcBef>
                <a:spcPts val="0"/>
              </a:spcBef>
              <a:spcAft>
                <a:spcPts val="0"/>
              </a:spcAft>
              <a:buClr>
                <a:schemeClr val="dk1"/>
              </a:buClr>
              <a:buSzPts val="2400"/>
              <a:buNone/>
            </a:pPr>
            <a:endParaRPr lang="en-US" dirty="0"/>
          </a:p>
          <a:p>
            <a:pPr marL="342900" lvl="0" indent="-342900" algn="l" rtl="0">
              <a:lnSpc>
                <a:spcPct val="114000"/>
              </a:lnSpc>
              <a:spcBef>
                <a:spcPts val="0"/>
              </a:spcBef>
              <a:spcAft>
                <a:spcPts val="0"/>
              </a:spcAft>
              <a:buClr>
                <a:schemeClr val="dk1"/>
              </a:buClr>
              <a:buSzPts val="2400"/>
              <a:buFont typeface="Noto Sans Symbols"/>
              <a:buChar char="▪"/>
            </a:pPr>
            <a:endParaRPr lang="en-US" dirty="0"/>
          </a:p>
          <a:p>
            <a:pPr marL="342900" lvl="0" indent="-342900" algn="l" rtl="0">
              <a:lnSpc>
                <a:spcPct val="114000"/>
              </a:lnSpc>
              <a:spcBef>
                <a:spcPts val="0"/>
              </a:spcBef>
              <a:spcAft>
                <a:spcPts val="0"/>
              </a:spcAft>
              <a:buClr>
                <a:schemeClr val="dk1"/>
              </a:buClr>
              <a:buSzPts val="2400"/>
              <a:buFont typeface="Noto Sans Symbols"/>
              <a:buChar char="▪"/>
            </a:pPr>
            <a:endParaRPr lang="en-US" dirty="0"/>
          </a:p>
          <a:p>
            <a:pPr marL="342900" lvl="0" indent="-342900" algn="l" rtl="0">
              <a:lnSpc>
                <a:spcPct val="114000"/>
              </a:lnSpc>
              <a:spcBef>
                <a:spcPts val="0"/>
              </a:spcBef>
              <a:spcAft>
                <a:spcPts val="0"/>
              </a:spcAft>
              <a:buClr>
                <a:schemeClr val="dk1"/>
              </a:buClr>
              <a:buSzPts val="2400"/>
              <a:buFont typeface="Noto Sans Symbols"/>
              <a:buChar char="▪"/>
            </a:pPr>
            <a:endParaRPr lang="en-US" dirty="0"/>
          </a:p>
          <a:p>
            <a:pPr marL="342900" lvl="0" indent="-190500" algn="l" rtl="0">
              <a:lnSpc>
                <a:spcPct val="114000"/>
              </a:lnSpc>
              <a:spcBef>
                <a:spcPts val="480"/>
              </a:spcBef>
              <a:spcAft>
                <a:spcPts val="0"/>
              </a:spcAft>
              <a:buClr>
                <a:schemeClr val="dk1"/>
              </a:buClr>
              <a:buSzPts val="2400"/>
              <a:buFont typeface="Noto Sans Symbols"/>
              <a:buNone/>
            </a:pPr>
            <a:endParaRPr dirty="0"/>
          </a:p>
        </p:txBody>
      </p:sp>
      <p:pic>
        <p:nvPicPr>
          <p:cNvPr id="5122" name="Picture 2">
            <a:extLst>
              <a:ext uri="{FF2B5EF4-FFF2-40B4-BE49-F238E27FC236}">
                <a16:creationId xmlns:a16="http://schemas.microsoft.com/office/drawing/2014/main" id="{3CE71B78-DE16-F99F-B8FF-B15E66446E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6318" y="871979"/>
            <a:ext cx="4792841" cy="557124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F018407F-05FF-3AF8-4FB9-3969D0767FB1}"/>
              </a:ext>
            </a:extLst>
          </p:cNvPr>
          <p:cNvSpPr>
            <a:spLocks noChangeArrowheads="1"/>
          </p:cNvSpPr>
          <p:nvPr/>
        </p:nvSpPr>
        <p:spPr bwMode="auto">
          <a:xfrm rot="10800000" flipV="1">
            <a:off x="190500" y="1284059"/>
            <a:ext cx="4164684"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Regex Patterns</a:t>
            </a:r>
            <a:r>
              <a:rPr kumimoji="0" lang="en-US" altLang="en-US" sz="1800" b="0" i="0" u="none" strike="noStrike" cap="none" normalizeH="0" baseline="0" dirty="0">
                <a:ln>
                  <a:noFill/>
                </a:ln>
                <a:solidFill>
                  <a:schemeClr val="tx1"/>
                </a:solidFill>
                <a:effectLst/>
                <a:latin typeface="Arial" panose="020B0604020202020204" pitchFamily="34" charset="0"/>
              </a:rPr>
              <a:t>: Extracts structured data (e.g., dates, IDs) from unstructured text with precision.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Excel Parsing</a:t>
            </a:r>
            <a:r>
              <a:rPr kumimoji="0" lang="en-US" altLang="en-US" sz="1800" b="0" i="0" u="none" strike="noStrike" cap="none" normalizeH="0" baseline="0" dirty="0">
                <a:ln>
                  <a:noFill/>
                </a:ln>
                <a:solidFill>
                  <a:schemeClr val="tx1"/>
                </a:solidFill>
                <a:effectLst/>
                <a:latin typeface="Arial" panose="020B0604020202020204" pitchFamily="34" charset="0"/>
              </a:rPr>
              <a:t>: Reads specific rows/columns, processes large datasets programmatically.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Field Identification</a:t>
            </a:r>
            <a:r>
              <a:rPr kumimoji="0" lang="en-US" altLang="en-US" sz="1800" b="0" i="0" u="none" strike="noStrike" cap="none" normalizeH="0" baseline="0" dirty="0">
                <a:ln>
                  <a:noFill/>
                </a:ln>
                <a:solidFill>
                  <a:schemeClr val="tx1"/>
                </a:solidFill>
                <a:effectLst/>
                <a:latin typeface="Arial" panose="020B0604020202020204" pitchFamily="34" charset="0"/>
              </a:rPr>
              <a:t>: Maps relevant fields dynamically from both text and sheets.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Data Integrity</a:t>
            </a:r>
            <a:r>
              <a:rPr kumimoji="0" lang="en-US" altLang="en-US" sz="1800" b="0" i="0" u="none" strike="noStrike" cap="none" normalizeH="0" baseline="0" dirty="0">
                <a:ln>
                  <a:noFill/>
                </a:ln>
                <a:solidFill>
                  <a:schemeClr val="tx1"/>
                </a:solidFill>
                <a:effectLst/>
                <a:latin typeface="Arial" panose="020B0604020202020204" pitchFamily="34" charset="0"/>
              </a:rPr>
              <a:t>: Ensures consistency and accuracy during extraction.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Output Structure</a:t>
            </a:r>
            <a:r>
              <a:rPr kumimoji="0" lang="en-US" altLang="en-US" sz="1800" b="0" i="0" u="none" strike="noStrike" cap="none" normalizeH="0" baseline="0" dirty="0">
                <a:ln>
                  <a:noFill/>
                </a:ln>
                <a:solidFill>
                  <a:schemeClr val="tx1"/>
                </a:solidFill>
                <a:effectLst/>
                <a:latin typeface="Arial" panose="020B0604020202020204" pitchFamily="34" charset="0"/>
              </a:rPr>
              <a:t>: Formats extracted data for seamless integration with other systems.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93048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2"/>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dirty="0"/>
              <a:t>Table Design-ER DIAGRAM</a:t>
            </a:r>
            <a:endParaRPr dirty="0">
              <a:latin typeface="Calibri"/>
              <a:ea typeface="Calibri"/>
              <a:cs typeface="Calibri"/>
              <a:sym typeface="Calibri"/>
            </a:endParaRPr>
          </a:p>
        </p:txBody>
      </p:sp>
      <p:pic>
        <p:nvPicPr>
          <p:cNvPr id="3074" name="Picture 2">
            <a:extLst>
              <a:ext uri="{FF2B5EF4-FFF2-40B4-BE49-F238E27FC236}">
                <a16:creationId xmlns:a16="http://schemas.microsoft.com/office/drawing/2014/main" id="{00A32FAD-83AA-0B12-DA7C-CFF82F2E28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0009" y="999241"/>
            <a:ext cx="5486400" cy="5400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3"/>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dirty="0"/>
              <a:t>Process Design</a:t>
            </a:r>
            <a:endParaRPr dirty="0">
              <a:latin typeface="Calibri"/>
              <a:ea typeface="Calibri"/>
              <a:cs typeface="Calibri"/>
              <a:sym typeface="Calibri"/>
            </a:endParaRPr>
          </a:p>
        </p:txBody>
      </p:sp>
      <p:sp>
        <p:nvSpPr>
          <p:cNvPr id="2" name="Text Placeholder 1">
            <a:extLst>
              <a:ext uri="{FF2B5EF4-FFF2-40B4-BE49-F238E27FC236}">
                <a16:creationId xmlns:a16="http://schemas.microsoft.com/office/drawing/2014/main" id="{635E7179-A812-A82F-0EE6-4CE53243C91C}"/>
              </a:ext>
            </a:extLst>
          </p:cNvPr>
          <p:cNvSpPr>
            <a:spLocks noGrp="1" noChangeArrowheads="1"/>
          </p:cNvSpPr>
          <p:nvPr>
            <p:ph type="body" idx="1"/>
          </p:nvPr>
        </p:nvSpPr>
        <p:spPr bwMode="auto">
          <a:xfrm>
            <a:off x="162220" y="1001046"/>
            <a:ext cx="8953500"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Main Process:</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Automate email handling through extraction, organization, and task management.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Subprocesses:</a:t>
            </a: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Email Classification</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Scans emails for key phrases, categorizes into types (e.g., invoices, reminders).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Data Extraction</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Regex</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Extracts invoice details (numbers, dates, amounts).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Excel</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Parses spreadsheets for relevant data.</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Action Assignment</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Identifies tasks (e.g., due dates), assigns priorities.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Email Organization</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Moves emails to folders, logs processed data.</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Notification &amp; Logging</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Sends alerts for tasks, maintains data logs.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User Interaction</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Provides a review interface, supports manual overrides.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4"/>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Implementation</a:t>
            </a:r>
            <a:endParaRPr>
              <a:latin typeface="Calibri"/>
              <a:ea typeface="Calibri"/>
              <a:cs typeface="Calibri"/>
              <a:sym typeface="Calibri"/>
            </a:endParaRPr>
          </a:p>
        </p:txBody>
      </p:sp>
      <p:pic>
        <p:nvPicPr>
          <p:cNvPr id="3" name="Picture 2">
            <a:extLst>
              <a:ext uri="{FF2B5EF4-FFF2-40B4-BE49-F238E27FC236}">
                <a16:creationId xmlns:a16="http://schemas.microsoft.com/office/drawing/2014/main" id="{A165E7FE-552C-8437-80FD-DEBA9DD24416}"/>
              </a:ext>
            </a:extLst>
          </p:cNvPr>
          <p:cNvPicPr>
            <a:picLocks noChangeAspect="1"/>
          </p:cNvPicPr>
          <p:nvPr/>
        </p:nvPicPr>
        <p:blipFill>
          <a:blip r:embed="rId3"/>
          <a:stretch>
            <a:fillRect/>
          </a:stretch>
        </p:blipFill>
        <p:spPr>
          <a:xfrm>
            <a:off x="4157221" y="887611"/>
            <a:ext cx="4949072" cy="5334000"/>
          </a:xfrm>
          <a:prstGeom prst="rect">
            <a:avLst/>
          </a:prstGeom>
        </p:spPr>
      </p:pic>
      <p:sp>
        <p:nvSpPr>
          <p:cNvPr id="4" name="Rectangle 1">
            <a:extLst>
              <a:ext uri="{FF2B5EF4-FFF2-40B4-BE49-F238E27FC236}">
                <a16:creationId xmlns:a16="http://schemas.microsoft.com/office/drawing/2014/main" id="{845BB347-AA8E-AA69-FB44-EA8109DBBD3C}"/>
              </a:ext>
            </a:extLst>
          </p:cNvPr>
          <p:cNvSpPr>
            <a:spLocks noGrp="1" noChangeArrowheads="1"/>
          </p:cNvSpPr>
          <p:nvPr>
            <p:ph type="body" idx="1"/>
          </p:nvPr>
        </p:nvSpPr>
        <p:spPr bwMode="auto">
          <a:xfrm>
            <a:off x="190500" y="1057294"/>
            <a:ext cx="4164683" cy="5539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The </a:t>
            </a:r>
            <a:r>
              <a:rPr kumimoji="0" lang="en-US" altLang="en-US" b="1" i="0" u="none" strike="noStrike" cap="none" normalizeH="0" baseline="0" dirty="0">
                <a:ln>
                  <a:noFill/>
                </a:ln>
                <a:solidFill>
                  <a:schemeClr val="tx1"/>
                </a:solidFill>
                <a:effectLst/>
                <a:latin typeface="Arial" panose="020B0604020202020204" pitchFamily="34" charset="0"/>
              </a:rPr>
              <a:t>Email Extraction Module</a:t>
            </a:r>
            <a:r>
              <a:rPr kumimoji="0" lang="en-US" altLang="en-US" b="0" i="0" u="none" strike="noStrike" cap="none" normalizeH="0" baseline="0" dirty="0">
                <a:ln>
                  <a:noFill/>
                </a:ln>
                <a:solidFill>
                  <a:schemeClr val="tx1"/>
                </a:solidFill>
                <a:effectLst/>
                <a:latin typeface="Arial" panose="020B0604020202020204" pitchFamily="34" charset="0"/>
              </a:rPr>
              <a:t> leverages regex for structured data extraction (e.g., invoice numbers, dates, amounts) and processes attachments like Excel sheets for field-specific data. It integrates seamlessly with email APIs to parse content, classify emails, and organize extracted details into a structured format for automated workflows or user review.</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C9FFAABC-C071-BC28-E984-9A77F0951B71}"/>
            </a:ext>
          </a:extLst>
        </p:cNvPr>
        <p:cNvGrpSpPr/>
        <p:nvPr/>
      </p:nvGrpSpPr>
      <p:grpSpPr>
        <a:xfrm>
          <a:off x="0" y="0"/>
          <a:ext cx="0" cy="0"/>
          <a:chOff x="0" y="0"/>
          <a:chExt cx="0" cy="0"/>
        </a:xfrm>
      </p:grpSpPr>
      <p:sp>
        <p:nvSpPr>
          <p:cNvPr id="175" name="Google Shape;175;p24">
            <a:extLst>
              <a:ext uri="{FF2B5EF4-FFF2-40B4-BE49-F238E27FC236}">
                <a16:creationId xmlns:a16="http://schemas.microsoft.com/office/drawing/2014/main" id="{79F704C2-CA66-CADE-456D-E20CA5AB4456}"/>
              </a:ext>
            </a:extLst>
          </p:cNvPr>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Implementation</a:t>
            </a:r>
            <a:endParaRPr>
              <a:latin typeface="Calibri"/>
              <a:ea typeface="Calibri"/>
              <a:cs typeface="Calibri"/>
              <a:sym typeface="Calibri"/>
            </a:endParaRPr>
          </a:p>
        </p:txBody>
      </p:sp>
      <p:sp>
        <p:nvSpPr>
          <p:cNvPr id="4" name="Rectangle 1">
            <a:extLst>
              <a:ext uri="{FF2B5EF4-FFF2-40B4-BE49-F238E27FC236}">
                <a16:creationId xmlns:a16="http://schemas.microsoft.com/office/drawing/2014/main" id="{FB967126-BB9E-270F-291B-C8E7AABC5F54}"/>
              </a:ext>
            </a:extLst>
          </p:cNvPr>
          <p:cNvSpPr>
            <a:spLocks noGrp="1" noChangeArrowheads="1"/>
          </p:cNvSpPr>
          <p:nvPr>
            <p:ph type="body" idx="1"/>
          </p:nvPr>
        </p:nvSpPr>
        <p:spPr bwMode="auto">
          <a:xfrm>
            <a:off x="383371" y="1046375"/>
            <a:ext cx="3943532"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dirty="0"/>
              <a:t>The </a:t>
            </a:r>
            <a:r>
              <a:rPr lang="en-US" b="1" dirty="0"/>
              <a:t>Regex and Excel Automator</a:t>
            </a:r>
            <a:r>
              <a:rPr lang="en-US" dirty="0"/>
              <a:t> combines advanced regex patterns for precise data extraction from unstructured text with automated Excel parsing to process specific fields. It efficiently handles large datasets, mapping required data points and organizing outputs into structured formats for seamless integration with downstream workflows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6594B2DD-55A2-395D-9AD9-4C55D4648F08}"/>
              </a:ext>
            </a:extLst>
          </p:cNvPr>
          <p:cNvPicPr>
            <a:picLocks noChangeAspect="1"/>
          </p:cNvPicPr>
          <p:nvPr/>
        </p:nvPicPr>
        <p:blipFill>
          <a:blip r:embed="rId3"/>
          <a:stretch>
            <a:fillRect/>
          </a:stretch>
        </p:blipFill>
        <p:spPr>
          <a:xfrm>
            <a:off x="4440025" y="1046375"/>
            <a:ext cx="4075507" cy="5373279"/>
          </a:xfrm>
          <a:prstGeom prst="rect">
            <a:avLst/>
          </a:prstGeom>
        </p:spPr>
      </p:pic>
    </p:spTree>
    <p:extLst>
      <p:ext uri="{BB962C8B-B14F-4D97-AF65-F5344CB8AC3E}">
        <p14:creationId xmlns:p14="http://schemas.microsoft.com/office/powerpoint/2010/main" val="1488322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6"/>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Conclusions</a:t>
            </a:r>
            <a:endParaRPr>
              <a:latin typeface="Calibri"/>
              <a:ea typeface="Calibri"/>
              <a:cs typeface="Calibri"/>
              <a:sym typeface="Calibri"/>
            </a:endParaRPr>
          </a:p>
        </p:txBody>
      </p:sp>
      <p:sp>
        <p:nvSpPr>
          <p:cNvPr id="2" name="Text Placeholder 1">
            <a:extLst>
              <a:ext uri="{FF2B5EF4-FFF2-40B4-BE49-F238E27FC236}">
                <a16:creationId xmlns:a16="http://schemas.microsoft.com/office/drawing/2014/main" id="{7B4A334D-1D86-D3FC-0BAD-F91EE660227C}"/>
              </a:ext>
            </a:extLst>
          </p:cNvPr>
          <p:cNvSpPr>
            <a:spLocks noGrp="1" noChangeArrowheads="1"/>
          </p:cNvSpPr>
          <p:nvPr>
            <p:ph type="body" idx="1"/>
          </p:nvPr>
        </p:nvSpPr>
        <p:spPr bwMode="auto">
          <a:xfrm>
            <a:off x="265914" y="914400"/>
            <a:ext cx="876300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sz="2200" dirty="0" err="1"/>
              <a:t>MailMinder</a:t>
            </a:r>
            <a:r>
              <a:rPr lang="en-US" sz="2200" dirty="0"/>
              <a:t> Bot is an intelligent solution designed to automate the entire process of email management. By leveraging advanced techniques like regex for text extraction and automated parsing of Excel files, </a:t>
            </a:r>
            <a:r>
              <a:rPr lang="en-US" sz="2200" dirty="0" err="1"/>
              <a:t>MailMinder</a:t>
            </a:r>
            <a:r>
              <a:rPr lang="en-US" sz="2200" dirty="0"/>
              <a:t> efficiently extracts important information such as invoice details, payment due dates, and more. The bot categorizes emails, assigns priorities, and organizes them into folders, streamlining workflows and reducing manual effort. This automation allows users to focus on critical tasks while ensuring that no important emails go unnoticed. </a:t>
            </a:r>
            <a:r>
              <a:rPr lang="en-US" sz="2200" dirty="0" err="1"/>
              <a:t>MailMinder’s</a:t>
            </a:r>
            <a:r>
              <a:rPr lang="en-US" sz="2200" dirty="0"/>
              <a:t> ability to automate repetitive tasks and maintain an organized email structure leads to enhanced productivity and accuracy in email handling.</a:t>
            </a:r>
          </a:p>
          <a:p>
            <a:pPr marL="0" marR="0" lvl="0" indent="0" algn="l" defTabSz="914400" rtl="0" eaLnBrk="0" fontAlgn="base" latinLnBrk="0" hangingPunct="0">
              <a:lnSpc>
                <a:spcPct val="100000"/>
              </a:lnSpc>
              <a:spcBef>
                <a:spcPct val="0"/>
              </a:spcBef>
              <a:spcAft>
                <a:spcPct val="0"/>
              </a:spcAft>
              <a:buClrTx/>
              <a:buSzTx/>
              <a:buNone/>
              <a:tabLst/>
            </a:pPr>
            <a:endParaRPr lang="en-US" sz="2200" dirty="0"/>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 conclusion,</a:t>
            </a:r>
            <a:r>
              <a:rPr lang="en-US" sz="2200" dirty="0"/>
              <a:t> </a:t>
            </a:r>
            <a:r>
              <a:rPr lang="en-US" sz="2200" dirty="0" err="1"/>
              <a:t>MailMinder</a:t>
            </a:r>
            <a:r>
              <a:rPr lang="en-US" sz="2200" dirty="0"/>
              <a:t> Bot provides an effective, automated approach to managing and processing emails, ensuring that essential tasks are completed with greater efficiency and minimal human intervention. It simplifies email management, improves workflow automation, and ultimately boosts productivity for users and organizations</a:t>
            </a:r>
            <a:r>
              <a:rPr lang="en-US" sz="2000" dirty="0"/>
              <a:t>.</a:t>
            </a: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7"/>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dirty="0"/>
              <a:t>Future Enhancement</a:t>
            </a:r>
            <a:endParaRPr dirty="0">
              <a:latin typeface="Calibri"/>
              <a:ea typeface="Calibri"/>
              <a:cs typeface="Calibri"/>
              <a:sym typeface="Calibri"/>
            </a:endParaRPr>
          </a:p>
        </p:txBody>
      </p:sp>
      <p:sp>
        <p:nvSpPr>
          <p:cNvPr id="197" name="Google Shape;197;p27"/>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190500" algn="l" rtl="0">
              <a:lnSpc>
                <a:spcPct val="114000"/>
              </a:lnSpc>
              <a:spcBef>
                <a:spcPts val="480"/>
              </a:spcBef>
              <a:spcAft>
                <a:spcPts val="0"/>
              </a:spcAft>
              <a:buClr>
                <a:schemeClr val="dk1"/>
              </a:buClr>
              <a:buSzPts val="2400"/>
              <a:buFont typeface="Noto Sans Symbols"/>
              <a:buNone/>
            </a:pPr>
            <a:endParaRPr dirty="0"/>
          </a:p>
          <a:p>
            <a:pPr marL="342900" lvl="0" indent="-190500" algn="l" rtl="0">
              <a:lnSpc>
                <a:spcPct val="114000"/>
              </a:lnSpc>
              <a:spcBef>
                <a:spcPts val="480"/>
              </a:spcBef>
              <a:spcAft>
                <a:spcPts val="0"/>
              </a:spcAft>
              <a:buClr>
                <a:schemeClr val="dk1"/>
              </a:buClr>
              <a:buSzPts val="2400"/>
              <a:buFont typeface="Noto Sans Symbols"/>
              <a:buNone/>
            </a:pPr>
            <a:endParaRPr dirty="0"/>
          </a:p>
          <a:p>
            <a:pPr marL="342900" lvl="0" indent="-190500" algn="l" rtl="0">
              <a:lnSpc>
                <a:spcPct val="114000"/>
              </a:lnSpc>
              <a:spcBef>
                <a:spcPts val="480"/>
              </a:spcBef>
              <a:spcAft>
                <a:spcPts val="0"/>
              </a:spcAft>
              <a:buClr>
                <a:schemeClr val="dk1"/>
              </a:buClr>
              <a:buSzPts val="2400"/>
              <a:buFont typeface="Noto Sans Symbols"/>
              <a:buNone/>
            </a:pPr>
            <a:endParaRPr dirty="0"/>
          </a:p>
        </p:txBody>
      </p:sp>
      <p:sp>
        <p:nvSpPr>
          <p:cNvPr id="2" name="Rectangle 1">
            <a:extLst>
              <a:ext uri="{FF2B5EF4-FFF2-40B4-BE49-F238E27FC236}">
                <a16:creationId xmlns:a16="http://schemas.microsoft.com/office/drawing/2014/main" id="{D5730296-8C77-D780-419A-F3CF512BD441}"/>
              </a:ext>
            </a:extLst>
          </p:cNvPr>
          <p:cNvSpPr>
            <a:spLocks noChangeArrowheads="1"/>
          </p:cNvSpPr>
          <p:nvPr/>
        </p:nvSpPr>
        <p:spPr bwMode="auto">
          <a:xfrm rot="10800000" flipV="1">
            <a:off x="190500" y="995332"/>
            <a:ext cx="8604707"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AI-Powered Classification</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Integrating machine learning models for more accurate and dynamic email classification, allowing the bot to adapt to new types of emails and evolving user needs.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Multi-Language Support</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Expanding the bot's ability to process emails in multiple languages, broadening its usability across diverse user bases.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Advanced Reporting</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Adding more detailed reporting features, such as trends in email volume, priority tasks completed, and insights on email processing efficiency.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Integration with Other Platforms</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Enabling seamless integration with other communication platforms like Slack, Teams, or CRM systems to manage not only emails but all types of communication within an organization.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User Customization</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Allowing users to create custom extraction patterns or categories to tailor the bot's behavior to specific needs.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9"/>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References</a:t>
            </a:r>
            <a:endParaRPr>
              <a:latin typeface="Calibri"/>
              <a:ea typeface="Calibri"/>
              <a:cs typeface="Calibri"/>
              <a:sym typeface="Calibri"/>
            </a:endParaRPr>
          </a:p>
        </p:txBody>
      </p:sp>
      <p:sp>
        <p:nvSpPr>
          <p:cNvPr id="2" name="Text Placeholder 1">
            <a:extLst>
              <a:ext uri="{FF2B5EF4-FFF2-40B4-BE49-F238E27FC236}">
                <a16:creationId xmlns:a16="http://schemas.microsoft.com/office/drawing/2014/main" id="{9A173948-92D6-AC07-C14F-AEE3C5FC7CE8}"/>
              </a:ext>
            </a:extLst>
          </p:cNvPr>
          <p:cNvSpPr>
            <a:spLocks noGrp="1" noChangeArrowheads="1"/>
          </p:cNvSpPr>
          <p:nvPr>
            <p:ph type="body" idx="1"/>
          </p:nvPr>
        </p:nvSpPr>
        <p:spPr bwMode="auto">
          <a:xfrm>
            <a:off x="243133" y="1038796"/>
            <a:ext cx="8680123" cy="5614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Advanced Email Spam Detection: A Machine Learning Solution"</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(2022) explores the use of machine learning techniques to enhance email classification and spam detection. This paper presents hybrid approaches for handling spam, which could be adapted for email extraction tasks such as identifying important data from emails​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hlinkClick r:id="rId3"/>
              </a:rPr>
              <a:t>IEEE Xplore</a:t>
            </a: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"Machine Learning based Hybrid Approach for Email Spam Detection"</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(2022) proposes the use of a hybrid model combining multiple machine learning techniques for better email classification. It covers methods that could be useful for automating email management, including the extraction and categorization of email content​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hlinkClick r:id="rId4"/>
              </a:rPr>
              <a:t>IEEE Xplore</a:t>
            </a: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US" sz="1800" b="1" dirty="0">
                <a:latin typeface="Calibri" panose="020F0502020204030204" pitchFamily="34" charset="0"/>
                <a:ea typeface="Calibri" panose="020F0502020204030204" pitchFamily="34" charset="0"/>
                <a:cs typeface="Calibri" panose="020F0502020204030204" pitchFamily="34" charset="0"/>
              </a:rPr>
              <a:t>Zoho Mail's AI-Powered Assistant</a:t>
            </a:r>
            <a:r>
              <a:rPr lang="en-US" sz="1800" dirty="0">
                <a:latin typeface="Calibri" panose="020F0502020204030204" pitchFamily="34" charset="0"/>
                <a:ea typeface="Calibri" panose="020F0502020204030204" pitchFamily="34" charset="0"/>
                <a:cs typeface="Calibri" panose="020F0502020204030204" pitchFamily="34" charset="0"/>
              </a:rPr>
              <a:t>: Zoho offers a feature called Zia, which uses AI to analyze incoming emails and extract information based on predefined criteria, such as order details, customer requests, and invoice information. Zia's machine learning capabilities allow it to learn from patterns in emails and automatically categorize or route them​</a:t>
            </a:r>
            <a:r>
              <a:rPr lang="en-US" sz="1800" dirty="0">
                <a:latin typeface="Calibri" panose="020F0502020204030204" pitchFamily="34" charset="0"/>
                <a:ea typeface="Calibri" panose="020F0502020204030204" pitchFamily="34" charset="0"/>
                <a:cs typeface="Calibri" panose="020F0502020204030204" pitchFamily="34" charset="0"/>
                <a:hlinkClick r:id="rId5"/>
              </a:rPr>
              <a:t>ar5iv</a:t>
            </a:r>
            <a:endParaRPr lang="en-US" sz="1800" dirty="0">
              <a:latin typeface="Calibri" panose="020F0502020204030204" pitchFamily="34" charset="0"/>
              <a:ea typeface="Calibri" panose="020F0502020204030204" pitchFamily="34" charset="0"/>
              <a:cs typeface="Calibri" panose="020F0502020204030204" pitchFamily="34" charset="0"/>
            </a:endParaRPr>
          </a:p>
          <a:p>
            <a:pPr marL="76200" indent="0">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0"/>
          <p:cNvSpPr/>
          <p:nvPr/>
        </p:nvSpPr>
        <p:spPr>
          <a:xfrm>
            <a:off x="2532822" y="2321005"/>
            <a:ext cx="4078361" cy="156966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9600">
                <a:solidFill>
                  <a:schemeClr val="dk1"/>
                </a:solidFill>
                <a:latin typeface="Calibri"/>
                <a:ea typeface="Calibri"/>
                <a:cs typeface="Calibri"/>
                <a:sym typeface="Calibri"/>
              </a:rPr>
              <a:t>Queries</a:t>
            </a:r>
            <a:endParaRPr sz="96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1"/>
          <p:cNvSpPr/>
          <p:nvPr/>
        </p:nvSpPr>
        <p:spPr>
          <a:xfrm>
            <a:off x="727460" y="2321005"/>
            <a:ext cx="7689093" cy="156966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9600">
                <a:solidFill>
                  <a:schemeClr val="dk1"/>
                </a:solidFill>
                <a:latin typeface="Calibri"/>
                <a:ea typeface="Calibri"/>
                <a:cs typeface="Calibri"/>
                <a:sym typeface="Calibri"/>
              </a:rPr>
              <a:t>Demonstration</a:t>
            </a:r>
            <a:endParaRPr sz="96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2"/>
          <p:cNvSpPr/>
          <p:nvPr/>
        </p:nvSpPr>
        <p:spPr>
          <a:xfrm>
            <a:off x="1844234" y="2321005"/>
            <a:ext cx="5455532" cy="156966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9600">
                <a:solidFill>
                  <a:schemeClr val="dk1"/>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TotalTime>
  <Words>1739</Words>
  <Application>Microsoft Office PowerPoint</Application>
  <PresentationFormat>On-screen Show (4:3)</PresentationFormat>
  <Paragraphs>172</Paragraphs>
  <Slides>22</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Times New Roman</vt:lpstr>
      <vt:lpstr>SymbolMT</vt:lpstr>
      <vt:lpstr>Calibri</vt:lpstr>
      <vt:lpstr>Arial</vt:lpstr>
      <vt:lpstr>Noto Sans Symbols</vt:lpstr>
      <vt:lpstr>Open Sans ExtraBold</vt:lpstr>
      <vt:lpstr>Office Theme</vt:lpstr>
      <vt:lpstr>PowerPoint Presentation</vt:lpstr>
      <vt:lpstr>Abstract</vt:lpstr>
      <vt:lpstr>Need for the Proposed System</vt:lpstr>
      <vt:lpstr>Advantages of the Proposed System</vt:lpstr>
      <vt:lpstr>Literature Survey</vt:lpstr>
      <vt:lpstr>Literature Survey</vt:lpstr>
      <vt:lpstr>Main Objective</vt:lpstr>
      <vt:lpstr>Architecture</vt:lpstr>
      <vt:lpstr>PowerPoint Presentation</vt:lpstr>
      <vt:lpstr>System Requirements</vt:lpstr>
      <vt:lpstr>Functional Description</vt:lpstr>
      <vt:lpstr>Functional Description</vt:lpstr>
      <vt:lpstr>Table Design-ER DIAGRAM</vt:lpstr>
      <vt:lpstr>Process Design</vt:lpstr>
      <vt:lpstr>Implementation</vt:lpstr>
      <vt:lpstr>Implementation</vt:lpstr>
      <vt:lpstr>Conclusions</vt:lpstr>
      <vt:lpstr>Future Enhancement</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deept</dc:creator>
  <cp:lastModifiedBy>deepthi pavendan</cp:lastModifiedBy>
  <cp:revision>5</cp:revision>
  <dcterms:modified xsi:type="dcterms:W3CDTF">2024-11-22T03:31:21Z</dcterms:modified>
</cp:coreProperties>
</file>